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Plain targets</c:v>
                </c:pt>
              </c:strCache>
            </c:strRef>
          </c:tx>
          <c:spPr>
            <a:ln w="28575">
              <a:solidFill>
                <a:srgbClr val="F5A524"/>
              </a:solidFill>
            </a:ln>
          </c:spPr>
          <c:marker>
            <c:symbol val="circle"/>
            <c:size val="5"/>
            <c:spPr>
              <a:solidFill>
                <a:srgbClr val="F5A524"/>
              </a:solidFill>
              <a:ln>
                <a:noFill/>
              </a:ln>
            </c:spPr>
          </c:marke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0.00434</c:v>
                </c:pt>
                <c:pt idx="1">
                  <c:v>0.00788</c:v>
                </c:pt>
                <c:pt idx="2">
                  <c:v>0.01115</c:v>
                </c:pt>
                <c:pt idx="3">
                  <c:v>0.01415</c:v>
                </c:pt>
                <c:pt idx="4">
                  <c:v>0.01695</c:v>
                </c:pt>
                <c:pt idx="5">
                  <c:v>0.01958</c:v>
                </c:pt>
                <c:pt idx="6">
                  <c:v>0.02214</c:v>
                </c:pt>
                <c:pt idx="7">
                  <c:v>0.0247</c:v>
                </c:pt>
                <c:pt idx="8">
                  <c:v>0.02739</c:v>
                </c:pt>
                <c:pt idx="9">
                  <c:v>0.0303</c:v>
                </c:pt>
                <c:pt idx="10">
                  <c:v>0.0335</c:v>
                </c:pt>
                <c:pt idx="11">
                  <c:v>0.03715</c:v>
                </c:pt>
                <c:pt idx="12">
                  <c:v>0.04137</c:v>
                </c:pt>
                <c:pt idx="13">
                  <c:v>0.04634</c:v>
                </c:pt>
                <c:pt idx="14">
                  <c:v>0.05223</c:v>
                </c:pt>
                <c:pt idx="15">
                  <c:v>0.05919</c:v>
                </c:pt>
                <c:pt idx="16">
                  <c:v>0.06739</c:v>
                </c:pt>
                <c:pt idx="17">
                  <c:v>0.07694</c:v>
                </c:pt>
                <c:pt idx="18">
                  <c:v>0.0879</c:v>
                </c:pt>
                <c:pt idx="19">
                  <c:v>0.1003</c:v>
                </c:pt>
                <c:pt idx="20">
                  <c:v>0.11426</c:v>
                </c:pt>
                <c:pt idx="21">
                  <c:v>0.12996</c:v>
                </c:pt>
                <c:pt idx="22">
                  <c:v>0.14718</c:v>
                </c:pt>
                <c:pt idx="23">
                  <c:v>0.16563</c:v>
                </c:pt>
                <c:pt idx="24">
                  <c:v>0.18511</c:v>
                </c:pt>
                <c:pt idx="25">
                  <c:v>0.20585</c:v>
                </c:pt>
                <c:pt idx="26">
                  <c:v>0.22867</c:v>
                </c:pt>
                <c:pt idx="27">
                  <c:v>0.25481</c:v>
                </c:pt>
                <c:pt idx="28">
                  <c:v>0.28548</c:v>
                </c:pt>
                <c:pt idx="29">
                  <c:v>0.32137</c:v>
                </c:pt>
              </c:numCache>
            </c:numRef>
          </c:val>
          <c:smooth val="0"/>
        </c:ser>
        <c:ser>
          <c:idx val="1"/>
          <c:order val="1"/>
          <c:tx>
            <c:strRef>
              <c:f>Sheet1!$C$1</c:f>
              <c:strCache>
                <c:ptCount val="1"/>
                <c:pt idx="0">
                  <c:v>symlog targets</c:v>
                </c:pt>
              </c:strCache>
            </c:strRef>
          </c:tx>
          <c:spPr>
            <a:ln w="28575">
              <a:solidFill>
                <a:srgbClr val="A78BFA"/>
              </a:solidFill>
            </a:ln>
          </c:spPr>
          <c:marker>
            <c:symbol val="circle"/>
            <c:size val="5"/>
            <c:spPr>
              <a:solidFill>
                <a:srgbClr val="A78BFA"/>
              </a:solidFill>
              <a:ln>
                <a:noFill/>
              </a:ln>
            </c:spPr>
          </c:marke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0.00607</c:v>
                </c:pt>
                <c:pt idx="1">
                  <c:v>0.01012</c:v>
                </c:pt>
                <c:pt idx="2">
                  <c:v>0.0138</c:v>
                </c:pt>
                <c:pt idx="3">
                  <c:v>0.01724</c:v>
                </c:pt>
                <c:pt idx="4">
                  <c:v>0.02048</c:v>
                </c:pt>
                <c:pt idx="5">
                  <c:v>0.02359</c:v>
                </c:pt>
                <c:pt idx="6">
                  <c:v>0.02662</c:v>
                </c:pt>
                <c:pt idx="7">
                  <c:v>0.02963</c:v>
                </c:pt>
                <c:pt idx="8">
                  <c:v>0.03278</c:v>
                </c:pt>
                <c:pt idx="9">
                  <c:v>0.03623</c:v>
                </c:pt>
                <c:pt idx="10">
                  <c:v>0.04001</c:v>
                </c:pt>
                <c:pt idx="11">
                  <c:v>0.04433</c:v>
                </c:pt>
                <c:pt idx="12">
                  <c:v>0.04936</c:v>
                </c:pt>
                <c:pt idx="13">
                  <c:v>0.05523</c:v>
                </c:pt>
                <c:pt idx="14">
                  <c:v>0.06217</c:v>
                </c:pt>
                <c:pt idx="15">
                  <c:v>0.07033</c:v>
                </c:pt>
                <c:pt idx="16">
                  <c:v>0.07984</c:v>
                </c:pt>
                <c:pt idx="17">
                  <c:v>0.09072</c:v>
                </c:pt>
                <c:pt idx="18">
                  <c:v>0.10288</c:v>
                </c:pt>
                <c:pt idx="19">
                  <c:v>0.11617</c:v>
                </c:pt>
                <c:pt idx="20">
                  <c:v>0.13069</c:v>
                </c:pt>
                <c:pt idx="21">
                  <c:v>0.14661</c:v>
                </c:pt>
                <c:pt idx="22">
                  <c:v>0.16363</c:v>
                </c:pt>
                <c:pt idx="23">
                  <c:v>0.18144</c:v>
                </c:pt>
                <c:pt idx="24">
                  <c:v>0.19989</c:v>
                </c:pt>
                <c:pt idx="25">
                  <c:v>0.21917</c:v>
                </c:pt>
                <c:pt idx="26">
                  <c:v>0.2399</c:v>
                </c:pt>
                <c:pt idx="27">
                  <c:v>0.26305</c:v>
                </c:pt>
                <c:pt idx="28">
                  <c:v>0.2895</c:v>
                </c:pt>
                <c:pt idx="29">
                  <c:v>0.31948</c:v>
                </c:pt>
              </c:numCache>
            </c:numRef>
          </c:val>
          <c:smooth val="0"/>
        </c:ser>
        <c:marker val="1"/>
        <c:smooth val="0"/>
        <c:axId val="2118791784"/>
        <c:axId val="2140495176"/>
      </c:lineChart>
      <c:catAx>
        <c:axId val="2118791784"/>
        <c:scaling>
          <c:orientation val="minMax"/>
        </c:scaling>
        <c:delete val="0"/>
        <c:axPos val="b"/>
        <c:title>
          <c:tx>
            <c:rich>
              <a:bodyPr/>
              <a:lstStyle/>
              <a:p>
                <a:r>
                  <a:rPr sz="1200" b="0">
                    <a:solidFill>
                      <a:srgbClr val="A7B3C9"/>
                    </a:solidFill>
                    <a:latin typeface="Calibri"/>
                  </a:rPr>
                  <a:t>open-loop horizon (steps)</a:t>
                </a:r>
              </a:p>
            </c:rich>
          </c:tx>
          <c:layout/>
          <c:overlay val="0"/>
        </c:title>
        <c:majorTickMark val="out"/>
        <c:minorTickMark val="none"/>
        <c:tickLblPos val="nextTo"/>
        <c:spPr>
          <a:ln>
            <a:solidFill>
              <a:srgbClr val="56637D"/>
            </a:solidFill>
          </a:ln>
        </c:spPr>
        <c:txPr>
          <a:bodyPr/>
          <a:lstStyle/>
          <a:p>
            <a:pPr>
              <a:defRPr sz="1200">
                <a:solidFill>
                  <a:srgbClr val="A7B3C9"/>
                </a:solidFill>
              </a:defRPr>
            </a:pPr>
          </a:p>
        </c:txPr>
        <c:crossAx val="2140495176"/>
        <c:crosses val="autoZero"/>
        <c:auto val="1"/>
        <c:lblAlgn val="ctr"/>
        <c:lblOffset val="100"/>
        <c:tickLblSkip val="5"/>
        <c:tickMarkSkip val="5"/>
        <c:noMultiLvlLbl val="0"/>
      </c:catAx>
      <c:valAx>
        <c:axId val="2140495176"/>
        <c:scaling>
          <c:logBase val="10"/>
        </c:scaling>
        <c:delete val="0"/>
        <c:axPos val="l"/>
        <c:majorGridlines>
          <c:spPr>
            <a:ln w="9525">
              <a:solidFill>
                <a:srgbClr val="2A3756"/>
              </a:solidFill>
            </a:ln>
          </c:spPr>
        </c:majorGridlines>
        <c:title>
          <c:tx>
            <c:rich>
              <a:bodyPr/>
              <a:lstStyle/>
              <a:p>
                <a:r>
                  <a:rPr sz="1200" b="0">
                    <a:solidFill>
                      <a:srgbClr val="A7B3C9"/>
                    </a:solidFill>
                    <a:latin typeface="Calibri"/>
                  </a:rPr>
                  <a:t>state RMSE (log scale)</a:t>
                </a:r>
              </a:p>
            </c:rich>
          </c:tx>
          <c:layout/>
          <c:overlay val="0"/>
        </c:title>
        <c:numFmt formatCode="0.000" sourceLinked="0"/>
        <c:majorTickMark val="out"/>
        <c:minorTickMark val="none"/>
        <c:tickLblPos val="nextTo"/>
        <c:spPr>
          <a:ln>
            <a:noFill/>
          </a:ln>
        </c:spPr>
        <c:txPr>
          <a:bodyPr/>
          <a:lstStyle/>
          <a:p>
            <a:pPr>
              <a:defRPr sz="1200">
                <a:solidFill>
                  <a:srgbClr val="A7B3C9"/>
                </a:solidFill>
              </a:defRPr>
            </a:pPr>
          </a:p>
        </c:txPr>
        <c:crossAx val="2118791784"/>
        <c:crosses val="autoZero"/>
      </c:valAx>
    </c:plotArea>
    <c:legend>
      <c:legendPos val="b"/>
      <c:layout/>
      <c:overlay val="0"/>
      <c:txPr>
        <a:bodyPr/>
        <a:lstStyle/>
        <a:p>
          <a:pPr>
            <a:defRPr sz="1200">
              <a:solidFill>
                <a:srgbClr val="F2F5FA"/>
              </a:solidFill>
            </a:defRPr>
          </a:pPr>
        </a:p>
      </c:txPr>
    </c:legend>
    <c:plotVisOnly val="1"/>
    <c:dispBlanksAs val="gap"/>
    <c:showDLblsOverMax val="0"/>
  </c:chart>
  <c:spPr>
    <a:noFill/>
    <a:ln>
      <a:noFill/>
    </a:ln>
  </c:spPr>
  <c:txPr>
    <a:bodyPr/>
    <a:lstStyle/>
    <a:p>
      <a:pPr>
        <a:defRPr sz="1200">
          <a:solidFill>
            <a:srgbClr val="A7B3C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Seed 0</c:v>
                </c:pt>
              </c:strCache>
            </c:strRef>
          </c:tx>
          <c:spPr>
            <a:ln w="28575">
              <a:solidFill>
                <a:srgbClr val="2DD4BF"/>
              </a:solidFill>
            </a:ln>
          </c:spPr>
          <c:marker>
            <c:symbol val="circle"/>
            <c:size val="7"/>
            <c:spPr>
              <a:solidFill>
                <a:srgbClr val="2DD4BF"/>
              </a:solidFill>
              <a:ln>
                <a:noFill/>
              </a:ln>
            </c:spPr>
          </c:marker>
          <c:cat>
            <c:strRef>
              <c:f>Sheet1!$A$2:$A$6</c:f>
              <c:strCache>
                <c:ptCount val="5"/>
                <c:pt idx="0">
                  <c:v>BC</c:v>
                </c:pt>
                <c:pt idx="1">
                  <c:v>DAgger 1</c:v>
                </c:pt>
                <c:pt idx="2">
                  <c:v>DAgger 2</c:v>
                </c:pt>
                <c:pt idx="3">
                  <c:v>DAgger 3</c:v>
                </c:pt>
                <c:pt idx="4">
                  <c:v>DAgger 4</c:v>
                </c:pt>
              </c:strCache>
            </c:strRef>
          </c:cat>
          <c:val>
            <c:numRef>
              <c:f>Sheet1!$B$2:$B$6</c:f>
              <c:numCache>
                <c:formatCode>General</c:formatCode>
                <c:ptCount val="5"/>
                <c:pt idx="0">
                  <c:v>-1551.6</c:v>
                </c:pt>
                <c:pt idx="1">
                  <c:v>-236.7</c:v>
                </c:pt>
                <c:pt idx="2">
                  <c:v>-214.8</c:v>
                </c:pt>
                <c:pt idx="3">
                  <c:v>-194.2</c:v>
                </c:pt>
                <c:pt idx="4">
                  <c:v>-193.4</c:v>
                </c:pt>
              </c:numCache>
            </c:numRef>
          </c:val>
          <c:smooth val="0"/>
        </c:ser>
        <c:ser>
          <c:idx val="1"/>
          <c:order val="1"/>
          <c:tx>
            <c:strRef>
              <c:f>Sheet1!$C$1</c:f>
              <c:strCache>
                <c:ptCount val="1"/>
                <c:pt idx="0">
                  <c:v>Seed 1</c:v>
                </c:pt>
              </c:strCache>
            </c:strRef>
          </c:tx>
          <c:spPr>
            <a:ln w="28575">
              <a:solidFill>
                <a:srgbClr val="7DD3FC"/>
              </a:solidFill>
            </a:ln>
          </c:spPr>
          <c:marker>
            <c:symbol val="circle"/>
            <c:size val="7"/>
            <c:spPr>
              <a:solidFill>
                <a:srgbClr val="7DD3FC"/>
              </a:solidFill>
              <a:ln>
                <a:noFill/>
              </a:ln>
            </c:spPr>
          </c:marker>
          <c:cat>
            <c:strRef>
              <c:f>Sheet1!$A$2:$A$6</c:f>
              <c:strCache>
                <c:ptCount val="5"/>
                <c:pt idx="0">
                  <c:v>BC</c:v>
                </c:pt>
                <c:pt idx="1">
                  <c:v>DAgger 1</c:v>
                </c:pt>
                <c:pt idx="2">
                  <c:v>DAgger 2</c:v>
                </c:pt>
                <c:pt idx="3">
                  <c:v>DAgger 3</c:v>
                </c:pt>
                <c:pt idx="4">
                  <c:v>DAgger 4</c:v>
                </c:pt>
              </c:strCache>
            </c:strRef>
          </c:cat>
          <c:val>
            <c:numRef>
              <c:f>Sheet1!$C$2:$C$6</c:f>
              <c:numCache>
                <c:formatCode>General</c:formatCode>
                <c:ptCount val="5"/>
                <c:pt idx="0">
                  <c:v>-1549.3</c:v>
                </c:pt>
                <c:pt idx="1">
                  <c:v>-74.9</c:v>
                </c:pt>
                <c:pt idx="2">
                  <c:v>-74.9</c:v>
                </c:pt>
                <c:pt idx="3">
                  <c:v>-74.6</c:v>
                </c:pt>
                <c:pt idx="4">
                  <c:v>-74.3</c:v>
                </c:pt>
              </c:numCache>
            </c:numRef>
          </c:val>
          <c:smooth val="0"/>
        </c:ser>
        <c:ser>
          <c:idx val="2"/>
          <c:order val="2"/>
          <c:tx>
            <c:strRef>
              <c:f>Sheet1!$D$1</c:f>
              <c:strCache>
                <c:ptCount val="1"/>
                <c:pt idx="0">
                  <c:v>Seed 2</c:v>
                </c:pt>
              </c:strCache>
            </c:strRef>
          </c:tx>
          <c:spPr>
            <a:ln w="28575">
              <a:solidFill>
                <a:srgbClr val="C4B5FD"/>
              </a:solidFill>
            </a:ln>
          </c:spPr>
          <c:marker>
            <c:symbol val="circle"/>
            <c:size val="7"/>
            <c:spPr>
              <a:solidFill>
                <a:srgbClr val="C4B5FD"/>
              </a:solidFill>
              <a:ln>
                <a:noFill/>
              </a:ln>
            </c:spPr>
          </c:marker>
          <c:cat>
            <c:strRef>
              <c:f>Sheet1!$A$2:$A$6</c:f>
              <c:strCache>
                <c:ptCount val="5"/>
                <c:pt idx="0">
                  <c:v>BC</c:v>
                </c:pt>
                <c:pt idx="1">
                  <c:v>DAgger 1</c:v>
                </c:pt>
                <c:pt idx="2">
                  <c:v>DAgger 2</c:v>
                </c:pt>
                <c:pt idx="3">
                  <c:v>DAgger 3</c:v>
                </c:pt>
                <c:pt idx="4">
                  <c:v>DAgger 4</c:v>
                </c:pt>
              </c:strCache>
            </c:strRef>
          </c:cat>
          <c:val>
            <c:numRef>
              <c:f>Sheet1!$D$2:$D$6</c:f>
              <c:numCache>
                <c:formatCode>General</c:formatCode>
                <c:ptCount val="5"/>
                <c:pt idx="0">
                  <c:v>-907.2</c:v>
                </c:pt>
                <c:pt idx="1">
                  <c:v>-1542.7</c:v>
                </c:pt>
                <c:pt idx="2">
                  <c:v>-1417.7</c:v>
                </c:pt>
                <c:pt idx="3">
                  <c:v>-155.6</c:v>
                </c:pt>
                <c:pt idx="4">
                  <c:v>-152.1</c:v>
                </c:pt>
              </c:numCache>
            </c:numRef>
          </c:val>
          <c:smooth val="0"/>
        </c:ser>
        <c:ser>
          <c:idx val="3"/>
          <c:order val="3"/>
          <c:tx>
            <c:strRef>
              <c:f>Sheet1!$E$1</c:f>
              <c:strCache>
                <c:ptCount val="1"/>
                <c:pt idx="0">
                  <c:v>CEM teacher</c:v>
                </c:pt>
              </c:strCache>
            </c:strRef>
          </c:tx>
          <c:spPr>
            <a:ln w="28575">
              <a:solidFill>
                <a:srgbClr val="F5A524"/>
              </a:solidFill>
              <a:prstDash val="dash"/>
            </a:ln>
          </c:spPr>
          <c:marker>
            <c:symbol val="none"/>
            <c:size val="7"/>
            <c:spPr>
              <a:solidFill>
                <a:srgbClr val="F5A524"/>
              </a:solidFill>
              <a:ln>
                <a:noFill/>
              </a:ln>
            </c:spPr>
          </c:marker>
          <c:cat>
            <c:strRef>
              <c:f>Sheet1!$A$2:$A$6</c:f>
              <c:strCache>
                <c:ptCount val="5"/>
                <c:pt idx="0">
                  <c:v>BC</c:v>
                </c:pt>
                <c:pt idx="1">
                  <c:v>DAgger 1</c:v>
                </c:pt>
                <c:pt idx="2">
                  <c:v>DAgger 2</c:v>
                </c:pt>
                <c:pt idx="3">
                  <c:v>DAgger 3</c:v>
                </c:pt>
                <c:pt idx="4">
                  <c:v>DAgger 4</c:v>
                </c:pt>
              </c:strCache>
            </c:strRef>
          </c:cat>
          <c:val>
            <c:numRef>
              <c:f>Sheet1!$E$2:$E$6</c:f>
              <c:numCache>
                <c:formatCode>General</c:formatCode>
                <c:ptCount val="5"/>
                <c:pt idx="0">
                  <c:v>-155.0</c:v>
                </c:pt>
                <c:pt idx="1">
                  <c:v>-155.0</c:v>
                </c:pt>
                <c:pt idx="2">
                  <c:v>-155.0</c:v>
                </c:pt>
                <c:pt idx="3">
                  <c:v>-155.0</c:v>
                </c:pt>
                <c:pt idx="4">
                  <c:v>-155.0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56637D"/>
            </a:solidFill>
          </a:ln>
        </c:spPr>
        <c:txPr>
          <a:bodyPr/>
          <a:lstStyle/>
          <a:p>
            <a:pPr>
              <a:defRPr sz="1200">
                <a:solidFill>
                  <a:srgbClr val="A7B3C9"/>
                </a:solidFill>
              </a:defRPr>
            </a:pPr>
          </a:p>
        </c:txPr>
        <c:crossAx val="2140495176"/>
        <c:crosses val="autoZero"/>
        <c:auto val="1"/>
        <c:lblAlgn val="ctr"/>
        <c:lblOffset val="100"/>
        <c:noMultiLvlLbl val="0"/>
      </c:catAx>
      <c:valAx>
        <c:axId val="2140495176"/>
        <c:scaling>
          <c:max val="0.0"/>
          <c:min val="-1800.0"/>
        </c:scaling>
        <c:delete val="0"/>
        <c:axPos val="l"/>
        <c:majorGridlines>
          <c:spPr>
            <a:ln w="9525">
              <a:solidFill>
                <a:srgbClr val="2A3756"/>
              </a:solidFill>
            </a:ln>
          </c:spPr>
        </c:majorGridlines>
        <c:title>
          <c:tx>
            <c:rich>
              <a:bodyPr/>
              <a:lstStyle/>
              <a:p>
                <a:r>
                  <a:rPr sz="1200" b="0">
                    <a:solidFill>
                      <a:srgbClr val="A7B3C9"/>
                    </a:solidFill>
                    <a:latin typeface="Calibri"/>
                  </a:rPr>
                  <a:t>policy return</a:t>
                </a:r>
              </a:p>
            </c:rich>
          </c:tx>
          <c:layout/>
          <c:overlay val="0"/>
        </c:title>
        <c:numFmt formatCode="0;&quot;−&quot;0" sourceLinked="0"/>
        <c:majorTickMark val="out"/>
        <c:minorTickMark val="none"/>
        <c:tickLblPos val="nextTo"/>
        <c:spPr>
          <a:ln>
            <a:noFill/>
          </a:ln>
        </c:spPr>
        <c:txPr>
          <a:bodyPr/>
          <a:lstStyle/>
          <a:p>
            <a:pPr>
              <a:defRPr sz="1200">
                <a:solidFill>
                  <a:srgbClr val="A7B3C9"/>
                </a:solidFill>
              </a:defRPr>
            </a:pPr>
          </a:p>
        </c:txPr>
        <c:crossAx val="2118791784"/>
        <c:crosses val="autoZero"/>
        <c:majorUnit val="300.0"/>
      </c:valAx>
    </c:plotArea>
    <c:legend>
      <c:legendPos val="b"/>
      <c:layout/>
      <c:overlay val="0"/>
      <c:txPr>
        <a:bodyPr/>
        <a:lstStyle/>
        <a:p>
          <a:pPr>
            <a:defRPr sz="1200">
              <a:solidFill>
                <a:srgbClr val="F2F5FA"/>
              </a:solidFill>
            </a:defRPr>
          </a:pPr>
        </a:p>
      </c:txPr>
    </c:legend>
    <c:plotVisOnly val="1"/>
    <c:dispBlanksAs val="gap"/>
    <c:showDLblsOverMax val="0"/>
  </c:chart>
  <c:spPr>
    <a:noFill/>
    <a:ln>
      <a:noFill/>
    </a:ln>
  </c:spPr>
  <c:txPr>
    <a:bodyPr/>
    <a:lstStyle/>
    <a:p>
      <a:pPr>
        <a:defRPr sz="1200">
          <a:solidFill>
            <a:srgbClr val="A7B3C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Return, mean of 15 episodes (higher is better)</c:v>
                </c:pt>
              </c:strCache>
            </c:strRef>
          </c:tx>
          <c:dPt>
            <c:idx val="0"/>
            <c:spPr>
              <a:solidFill>
                <a:srgbClr val="8A94A8"/>
              </a:solidFill>
            </c:spPr>
          </c:dPt>
          <c:dPt>
            <c:idx val="1"/>
            <c:spPr>
              <a:solidFill>
                <a:srgbClr val="A78BFA"/>
              </a:solidFill>
            </c:spPr>
          </c:dPt>
          <c:dPt>
            <c:idx val="2"/>
            <c:spPr>
              <a:solidFill>
                <a:srgbClr val="F5A524"/>
              </a:solidFill>
            </c:spPr>
          </c:dPt>
          <c:dPt>
            <c:idx val="3"/>
            <c:spPr>
              <a:solidFill>
                <a:srgbClr val="2DD4BF"/>
              </a:solidFill>
            </c:spPr>
          </c:dPt>
          <c:cat>
            <c:strRef>
              <c:f>Sheet1!$A$2:$A$5</c:f>
              <c:strCache>
                <c:ptCount val="4"/>
                <c:pt idx="0">
                  <c:v>Random</c:v>
                </c:pt>
                <c:pt idx="1">
                  <c:v>Rand. shoot</c:v>
                </c:pt>
                <c:pt idx="2">
                  <c:v>CEM MPC</c:v>
                </c:pt>
                <c:pt idx="3">
                  <c:v>Distilled</c:v>
                </c:pt>
              </c:strCache>
            </c:strRef>
          </c:cat>
          <c:val>
            <c:numRef>
              <c:f>Sheet1!$B$2:$B$5</c:f>
              <c:numCache>
                <c:formatCode>General</c:formatCode>
                <c:ptCount val="4"/>
                <c:pt idx="0">
                  <c:v>-1171.6671</c:v>
                </c:pt>
                <c:pt idx="1">
                  <c:v>-187.3566</c:v>
                </c:pt>
                <c:pt idx="2">
                  <c:v>-155.0213</c:v>
                </c:pt>
                <c:pt idx="3">
                  <c:v>-173.492</c:v>
                </c:pt>
              </c:numCache>
            </c:numRef>
          </c:val>
        </c:ser>
        <c:dLbls>
          <c:numFmt formatCode="0;&quot;−&quot;0" sourceLinked="0"/>
          <c:txPr>
            <a:bodyPr/>
            <a:lstStyle/>
            <a:p>
              <a:pPr>
                <a:defRPr sz="1300" b="1">
                  <a:solidFill>
                    <a:srgbClr val="F2F5FA"/>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low"/>
        <c:spPr>
          <a:ln>
            <a:solidFill>
              <a:srgbClr val="56637D"/>
            </a:solidFill>
          </a:ln>
        </c:spPr>
        <c:txPr>
          <a:bodyPr/>
          <a:lstStyle/>
          <a:p>
            <a:pPr>
              <a:defRPr sz="1200">
                <a:solidFill>
                  <a:srgbClr val="A7B3C9"/>
                </a:solidFill>
              </a:defRPr>
            </a:pPr>
          </a:p>
        </c:txPr>
        <c:crossAx val="-2113994440"/>
        <c:crosses val="autoZero"/>
        <c:auto val="1"/>
        <c:lblAlgn val="ctr"/>
        <c:lblOffset val="100"/>
        <c:noMultiLvlLbl val="0"/>
      </c:catAx>
      <c:valAx>
        <c:axId val="-2113994440"/>
        <c:scaling>
          <c:max val="0.0"/>
          <c:min val="-1450.0"/>
        </c:scaling>
        <c:delete/>
        <c:axPos val="l"/>
        <c:majorTickMark val="out"/>
        <c:minorTickMark val="none"/>
        <c:tickLblPos val="nextTo"/>
        <c:spPr>
          <a:ln>
            <a:noFill/>
          </a:ln>
        </c:spPr>
        <c:txPr>
          <a:bodyPr/>
          <a:lstStyle/>
          <a:p>
            <a:pPr>
              <a:defRPr sz="1200">
                <a:solidFill>
                  <a:srgbClr val="A7B3C9"/>
                </a:solidFill>
              </a:defRPr>
            </a:pPr>
          </a:p>
        </c:txPr>
        <c:crossAx val="-2068027336"/>
        <c:crosses val="autoZero"/>
      </c:valAx>
    </c:plotArea>
    <c:dispBlanksAs val="gap"/>
  </c:chart>
  <c:spPr>
    <a:noFill/>
    <a:ln>
      <a:noFill/>
    </a:ln>
  </c:spPr>
  <c:txPr>
    <a:bodyPr/>
    <a:lstStyle/>
    <a:p>
      <a:pPr>
        <a:defRPr sz="1200">
          <a:solidFill>
            <a:srgbClr val="A7B3C9"/>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Milliseconds per decision (lower is faster)</c:v>
                </c:pt>
              </c:strCache>
            </c:strRef>
          </c:tx>
          <c:dPt>
            <c:idx val="0"/>
            <c:spPr>
              <a:solidFill>
                <a:srgbClr val="8A94A8"/>
              </a:solidFill>
            </c:spPr>
          </c:dPt>
          <c:dPt>
            <c:idx val="1"/>
            <c:spPr>
              <a:solidFill>
                <a:srgbClr val="A78BFA"/>
              </a:solidFill>
            </c:spPr>
          </c:dPt>
          <c:dPt>
            <c:idx val="2"/>
            <c:spPr>
              <a:solidFill>
                <a:srgbClr val="F5A524"/>
              </a:solidFill>
            </c:spPr>
          </c:dPt>
          <c:dPt>
            <c:idx val="3"/>
            <c:spPr>
              <a:solidFill>
                <a:srgbClr val="2DD4BF"/>
              </a:solidFill>
            </c:spPr>
          </c:dPt>
          <c:cat>
            <c:strRef>
              <c:f>Sheet1!$A$2:$A$5</c:f>
              <c:strCache>
                <c:ptCount val="4"/>
                <c:pt idx="0">
                  <c:v>Random</c:v>
                </c:pt>
                <c:pt idx="1">
                  <c:v>Rand. shoot</c:v>
                </c:pt>
                <c:pt idx="2">
                  <c:v>CEM MPC</c:v>
                </c:pt>
                <c:pt idx="3">
                  <c:v>Distilled</c:v>
                </c:pt>
              </c:strCache>
            </c:strRef>
          </c:cat>
          <c:val>
            <c:numRef>
              <c:f>Sheet1!$B$2:$B$5</c:f>
              <c:numCache>
                <c:formatCode>General</c:formatCode>
                <c:ptCount val="4"/>
                <c:pt idx="0">
                  <c:v>0.0043</c:v>
                </c:pt>
                <c:pt idx="1">
                  <c:v>26.5656</c:v>
                </c:pt>
                <c:pt idx="2">
                  <c:v>41.2516</c:v>
                </c:pt>
                <c:pt idx="3">
                  <c:v>0.0959</c:v>
                </c:pt>
              </c:numCache>
            </c:numRef>
          </c:val>
        </c:ser>
        <c:dLbls>
          <c:numFmt formatCode="0.000" sourceLinked="0"/>
          <c:txPr>
            <a:bodyPr/>
            <a:lstStyle/>
            <a:p>
              <a:pPr>
                <a:defRPr sz="1300" b="1">
                  <a:solidFill>
                    <a:srgbClr val="F2F5FA"/>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low"/>
        <c:spPr>
          <a:ln>
            <a:solidFill>
              <a:srgbClr val="56637D"/>
            </a:solidFill>
          </a:ln>
        </c:spPr>
        <c:txPr>
          <a:bodyPr/>
          <a:lstStyle/>
          <a:p>
            <a:pPr>
              <a:defRPr sz="1200">
                <a:solidFill>
                  <a:srgbClr val="A7B3C9"/>
                </a:solidFill>
              </a:defRPr>
            </a:pPr>
          </a:p>
        </c:txPr>
        <c:crossAx val="-2113994440"/>
        <c:crosses val="autoZero"/>
        <c:auto val="1"/>
        <c:lblAlgn val="ctr"/>
        <c:lblOffset val="100"/>
        <c:noMultiLvlLbl val="0"/>
      </c:catAx>
      <c:valAx>
        <c:axId val="-2113994440"/>
        <c:scaling>
          <c:max val="50.0"/>
          <c:min val="0.0"/>
        </c:scaling>
        <c:delete/>
        <c:axPos val="l"/>
        <c:majorTickMark val="out"/>
        <c:minorTickMark val="none"/>
        <c:tickLblPos val="nextTo"/>
        <c:spPr>
          <a:ln>
            <a:noFill/>
          </a:ln>
        </c:spPr>
        <c:txPr>
          <a:bodyPr/>
          <a:lstStyle/>
          <a:p>
            <a:pPr>
              <a:defRPr sz="1200">
                <a:solidFill>
                  <a:srgbClr val="A7B3C9"/>
                </a:solidFill>
              </a:defRPr>
            </a:pPr>
          </a:p>
        </c:txPr>
        <c:crossAx val="-2068027336"/>
        <c:crosses val="autoZero"/>
      </c:valAx>
    </c:plotArea>
    <c:dispBlanksAs val="gap"/>
  </c:chart>
  <c:spPr>
    <a:noFill/>
    <a:ln>
      <a:noFill/>
    </a:ln>
  </c:spPr>
  <c:txPr>
    <a:bodyPr/>
    <a:lstStyle/>
    <a:p>
      <a:pPr>
        <a:defRPr sz="1200">
          <a:solidFill>
            <a:srgbClr val="A7B3C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turns the common idea of this week's four readings into running code: learn a model of the world, plan with it slowly (Mode-2), then compile those plans into a fast reflex policy (Mode-1). Everything runs on a laptop CPU with python main.py.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the distilled policy decides about 430 times faster than the CEM planner it learned from and keeps 98 percent of the planner's gain over random play. The planner looks 15 steps ahead, the same imagination length DreamerV3 uses.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reading contributed one ingredient. LeCun gives the architecture and the Mode-1/Mode-2 vocabulary. The Diffusion World Model paper explains why long imagined rollouts are dangerous and why imagination should stay in training. DreamerV3 and its code give the 15-step horizon, symlog and the single config file.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lane is LeCun's Mode-2: the planner proposes action sequences, the world model imagines what happens, the fixed intrinsic cost scores the imagined states, and only the first action is executed before replanning. That is Model-Predictive Control. The bottom lane is Mode-1: a small network trained on the planner's decisions, which is LeCun's Figure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Pendulum-v1 has a three-number state, one torque, and a reward that penalises angle, speed and effort. The motor is too weak to lift the pole directly, so a controller has to plan a swing, which makes it a real, if small, planning problem. The same cost formula is used by my planner as LeCun's intrinsic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main.py runs these six stages for each seed, then pools the results, makes every plot and writes summary.json. Stages one to four are the world model and Mode-2 side; five and six are Mode-1 and the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world model is a plain MLP that predicts the change in state. Two pieces of prior knowledge keep rollouts valid: cos and sin are put back on the unit circle and the speed is clipped like the simulator. The one-step fit is excellent, with train and validation losses almost equal.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step, the model is fed its own slightly wrong prediction, so the error grows faster than linearly: about 12 times larger after 15 steps and 74 times after 30. This is the compounding error the Diffusion World Model paper shows in Figure 1.1, and the reason DreamerV3 imagines only 15 steps. symlog did not help here because Pendulum's state changes are already small.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CEM is a simple optimiser: sample, score in imagination, keep the best, refit, repeat. The planner never touches the simulator while thinking; it only uses the learned model and the fixed cost. Executing just the first action and replanning is what makes this MPC, and it limits the damage from compounding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behaviour cloning only sees states where the expert is doing well, so the first mistake takes the policy somewhere it has never been trained on. DAgger asks the planner to label the states the policy actually visits, so it learns to recover. Seed 2 needed three iterations before it clicked.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same 15 unseen start states, CEM scores -155 and the distilled policy -173, against -1172 for random play. The policy needs 0.096 ms per decision against 41.3 ms for CEM. At 20 Hz control, CEM uses most of the 50 ms budget on one CPU thread; the policy uses a fraction of a percent.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start hanging straight down at rest, the hardest start. Random never gets up. Both planners and the distilled policy pump energy with a few swings and then balance; the policy takes a little longer, which is why its return on this one episode is lower than CEM's.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claims show up clearly even on this tiny problem. The symlog result is the honest exception: symlog exists to handle targets whose scale varies by orders of magnitude across domains, and a single well-normalised pendulum has no such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lesson was DAgger: the same compounding-error problem the world model has also hits the cloned policy. The main limitations are that I skip perception entirely and use a hand-written cost; DreamerV3 and DWM learn from pixels and learn a reward model and critic.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whole loop from LeCun's paper on a small scale: model, cost, plan, then compile the plan into a reflex. Everything shown is reproducible with one command from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chart" Target="../charts/char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png"/><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 Id="rId19" Type="http://schemas.openxmlformats.org/officeDocument/2006/relationships/image" Target="../media/image34.png"/><Relationship Id="rId20" Type="http://schemas.openxmlformats.org/officeDocument/2006/relationships/image" Target="../media/image35.png"/><Relationship Id="rId21" Type="http://schemas.openxmlformats.org/officeDocument/2006/relationships/image" Target="../media/image36.png"/><Relationship Id="rId22" Type="http://schemas.openxmlformats.org/officeDocument/2006/relationships/image" Target="../media/image37.png"/><Relationship Id="rId23" Type="http://schemas.openxmlformats.org/officeDocument/2006/relationships/image" Target="../media/image38.png"/><Relationship Id="rId24" Type="http://schemas.openxmlformats.org/officeDocument/2006/relationships/image" Target="../media/image39.png"/><Relationship Id="rId25" Type="http://schemas.openxmlformats.org/officeDocument/2006/relationships/image" Target="../media/image40.png"/><Relationship Id="rId26" Type="http://schemas.openxmlformats.org/officeDocument/2006/relationships/image" Target="../media/image41.png"/><Relationship Id="rId27" Type="http://schemas.openxmlformats.org/officeDocument/2006/relationships/image" Target="../media/image42.png"/><Relationship Id="rId28" Type="http://schemas.openxmlformats.org/officeDocument/2006/relationships/image" Target="../media/image43.png"/><Relationship Id="rId29" Type="http://schemas.openxmlformats.org/officeDocument/2006/relationships/image" Target="../media/image44.png"/><Relationship Id="rId30" Type="http://schemas.openxmlformats.org/officeDocument/2006/relationships/image" Target="../media/image45.png"/><Relationship Id="rId3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020"/>
        </a:solidFill>
        <a:effectLst/>
      </p:bgPr>
    </p:bg>
    <p:spTree>
      <p:nvGrpSpPr>
        <p:cNvPr id="1" name=""/>
        <p:cNvGrpSpPr/>
        <p:nvPr/>
      </p:nvGrpSpPr>
      <p:grpSpPr/>
      <p:sp>
        <p:nvSpPr>
          <p:cNvPr id="2" name="TextBox 1"/>
          <p:cNvSpPr txBox="1"/>
          <p:nvPr/>
        </p:nvSpPr>
        <p:spPr>
          <a:xfrm>
            <a:off x="731520" y="1097280"/>
            <a:ext cx="6766560" cy="320040"/>
          </a:xfrm>
          <a:prstGeom prst="rect">
            <a:avLst/>
          </a:prstGeom>
          <a:noFill/>
        </p:spPr>
        <p:txBody>
          <a:bodyPr wrap="square" anchor="t" lIns="0" rIns="0" tIns="0" bIns="0">
            <a:spAutoFit/>
          </a:bodyPr>
          <a:lstStyle/>
          <a:p>
            <a:pPr algn="l">
              <a:spcAft>
                <a:spcPts val="400"/>
              </a:spcAft>
            </a:pPr>
            <a:r>
              <a:rPr sz="1400" b="1" i="0">
                <a:solidFill>
                  <a:srgbClr val="F5A524"/>
                </a:solidFill>
                <a:latin typeface="Calibri"/>
              </a:rPr>
              <a:t>ENG 6010 · Artificial Intelligence in Robotics · Readings 6</a:t>
            </a:r>
          </a:p>
        </p:txBody>
      </p:sp>
      <p:sp>
        <p:nvSpPr>
          <p:cNvPr id="3" name="TextBox 2"/>
          <p:cNvSpPr txBox="1"/>
          <p:nvPr/>
        </p:nvSpPr>
        <p:spPr>
          <a:xfrm>
            <a:off x="731520" y="1600200"/>
            <a:ext cx="6949440" cy="914400"/>
          </a:xfrm>
          <a:prstGeom prst="rect">
            <a:avLst/>
          </a:prstGeom>
          <a:noFill/>
        </p:spPr>
        <p:txBody>
          <a:bodyPr wrap="square" anchor="t" lIns="0" rIns="0" tIns="0" bIns="0">
            <a:spAutoFit/>
          </a:bodyPr>
          <a:lstStyle/>
          <a:p>
            <a:pPr algn="l">
              <a:spcAft>
                <a:spcPts val="400"/>
              </a:spcAft>
            </a:pPr>
            <a:r>
              <a:rPr sz="4600" b="1" i="0">
                <a:solidFill>
                  <a:srgbClr val="F2F5FA"/>
                </a:solidFill>
                <a:latin typeface="Calibri"/>
              </a:rPr>
              <a:t>From Mode-2 to Mode-1</a:t>
            </a:r>
          </a:p>
        </p:txBody>
      </p:sp>
      <p:sp>
        <p:nvSpPr>
          <p:cNvPr id="4" name="TextBox 3"/>
          <p:cNvSpPr txBox="1"/>
          <p:nvPr/>
        </p:nvSpPr>
        <p:spPr>
          <a:xfrm>
            <a:off x="731520" y="2606040"/>
            <a:ext cx="6400800" cy="1188720"/>
          </a:xfrm>
          <a:prstGeom prst="rect">
            <a:avLst/>
          </a:prstGeom>
          <a:noFill/>
        </p:spPr>
        <p:txBody>
          <a:bodyPr wrap="square" anchor="t" lIns="0" rIns="0" tIns="0" bIns="0">
            <a:spAutoFit/>
          </a:bodyPr>
          <a:lstStyle/>
          <a:p>
            <a:pPr algn="l">
              <a:lnSpc>
                <a:spcPct val="105000"/>
              </a:lnSpc>
              <a:spcAft>
                <a:spcPts val="400"/>
              </a:spcAft>
            </a:pPr>
            <a:r>
              <a:rPr sz="2400" b="0" i="0">
                <a:solidFill>
                  <a:srgbClr val="A7B3C9"/>
                </a:solidFill>
                <a:latin typeface="Calibri"/>
              </a:rPr>
              <a:t>Planning with a learned world model, then distilling it into a fast policy</a:t>
            </a:r>
          </a:p>
        </p:txBody>
      </p:sp>
      <p:sp>
        <p:nvSpPr>
          <p:cNvPr id="5" name="Rounded Rectangle 4"/>
          <p:cNvSpPr/>
          <p:nvPr/>
        </p:nvSpPr>
        <p:spPr>
          <a:xfrm>
            <a:off x="731520" y="4114800"/>
            <a:ext cx="1965960" cy="457200"/>
          </a:xfrm>
          <a:prstGeom prst="roundRect">
            <a:avLst>
              <a:gd name="adj" fmla="val 50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0"/>
            <a:ext cx="1965960" cy="457200"/>
          </a:xfrm>
          <a:prstGeom prst="rect">
            <a:avLst/>
          </a:prstGeom>
          <a:noFill/>
        </p:spPr>
        <p:txBody>
          <a:bodyPr wrap="square" anchor="ctr" lIns="0" rIns="0" tIns="0" bIns="0">
            <a:spAutoFit/>
          </a:bodyPr>
          <a:lstStyle/>
          <a:p>
            <a:pPr algn="ctr">
              <a:spcAft>
                <a:spcPts val="400"/>
              </a:spcAft>
            </a:pPr>
            <a:r>
              <a:rPr sz="1400" b="1" i="0">
                <a:solidFill>
                  <a:srgbClr val="F5A524"/>
                </a:solidFill>
                <a:latin typeface="Calibri"/>
              </a:rPr>
              <a:t>Mode-2 · think</a:t>
            </a:r>
          </a:p>
        </p:txBody>
      </p:sp>
      <p:sp>
        <p:nvSpPr>
          <p:cNvPr id="7" name="Rounded Rectangle 6"/>
          <p:cNvSpPr/>
          <p:nvPr/>
        </p:nvSpPr>
        <p:spPr>
          <a:xfrm>
            <a:off x="2880360" y="4114800"/>
            <a:ext cx="1965960" cy="457200"/>
          </a:xfrm>
          <a:prstGeom prst="roundRect">
            <a:avLst>
              <a:gd name="adj" fmla="val 50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4114800"/>
            <a:ext cx="1965960" cy="457200"/>
          </a:xfrm>
          <a:prstGeom prst="rect">
            <a:avLst/>
          </a:prstGeom>
          <a:noFill/>
        </p:spPr>
        <p:txBody>
          <a:bodyPr wrap="square" anchor="ctr" lIns="0" rIns="0" tIns="0" bIns="0">
            <a:spAutoFit/>
          </a:bodyPr>
          <a:lstStyle/>
          <a:p>
            <a:pPr algn="ctr">
              <a:spcAft>
                <a:spcPts val="400"/>
              </a:spcAft>
            </a:pPr>
            <a:r>
              <a:rPr sz="1400" b="1" i="0">
                <a:solidFill>
                  <a:srgbClr val="2DD4BF"/>
                </a:solidFill>
                <a:latin typeface="Calibri"/>
              </a:rPr>
              <a:t>Mode-1 · react</a:t>
            </a:r>
          </a:p>
        </p:txBody>
      </p:sp>
      <p:sp>
        <p:nvSpPr>
          <p:cNvPr id="9" name="TextBox 8"/>
          <p:cNvSpPr txBox="1"/>
          <p:nvPr/>
        </p:nvSpPr>
        <p:spPr>
          <a:xfrm>
            <a:off x="731520" y="4937760"/>
            <a:ext cx="6583680" cy="82296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Gymnasium Pendulum-v1 · PyTorch · CPU only</a:t>
            </a:r>
          </a:p>
          <a:p>
            <a:pPr algn="l">
              <a:spcAft>
                <a:spcPts val="400"/>
              </a:spcAft>
            </a:pPr>
            <a:r>
              <a:rPr sz="1400" b="0" i="0">
                <a:solidFill>
                  <a:srgbClr val="A7B3C9"/>
                </a:solidFill>
                <a:latin typeface="Calibri"/>
              </a:rPr>
              <a:t>LeCun (2022) · Diffusion World Model (2024) · DreamerV3 (2023)</a:t>
            </a:r>
          </a:p>
        </p:txBody>
      </p:sp>
      <p:sp>
        <p:nvSpPr>
          <p:cNvPr id="10" name="Rounded Rectangle 9"/>
          <p:cNvSpPr/>
          <p:nvPr/>
        </p:nvSpPr>
        <p:spPr>
          <a:xfrm>
            <a:off x="7744968" y="1024127"/>
            <a:ext cx="1883664" cy="2157984"/>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em_mpc_t000.png"/>
          <p:cNvPicPr>
            <a:picLocks noChangeAspect="1"/>
          </p:cNvPicPr>
          <p:nvPr/>
        </p:nvPicPr>
        <p:blipFill>
          <a:blip r:embed="rId2"/>
          <a:stretch>
            <a:fillRect/>
          </a:stretch>
        </p:blipFill>
        <p:spPr>
          <a:xfrm>
            <a:off x="7818120" y="1097280"/>
            <a:ext cx="1737360" cy="1737360"/>
          </a:xfrm>
          <a:prstGeom prst="rect">
            <a:avLst/>
          </a:prstGeom>
        </p:spPr>
      </p:pic>
      <p:sp>
        <p:nvSpPr>
          <p:cNvPr id="12" name="TextBox 11"/>
          <p:cNvSpPr txBox="1"/>
          <p:nvPr/>
        </p:nvSpPr>
        <p:spPr>
          <a:xfrm>
            <a:off x="7818120" y="2852928"/>
            <a:ext cx="1737360" cy="274320"/>
          </a:xfrm>
          <a:prstGeom prst="rect">
            <a:avLst/>
          </a:prstGeom>
          <a:noFill/>
        </p:spPr>
        <p:txBody>
          <a:bodyPr wrap="square" anchor="t" lIns="0" rIns="0" tIns="0" bIns="0">
            <a:spAutoFit/>
          </a:bodyPr>
          <a:lstStyle/>
          <a:p>
            <a:pPr algn="ctr">
              <a:spcAft>
                <a:spcPts val="400"/>
              </a:spcAft>
            </a:pPr>
            <a:r>
              <a:rPr sz="1100" b="0" i="0">
                <a:solidFill>
                  <a:srgbClr val="A7B3C9"/>
                </a:solidFill>
                <a:latin typeface="Calibri"/>
              </a:rPr>
              <a:t>t = 0</a:t>
            </a:r>
          </a:p>
        </p:txBody>
      </p:sp>
      <p:sp>
        <p:nvSpPr>
          <p:cNvPr id="13" name="Rounded Rectangle 12"/>
          <p:cNvSpPr/>
          <p:nvPr/>
        </p:nvSpPr>
        <p:spPr>
          <a:xfrm>
            <a:off x="9710928" y="1024127"/>
            <a:ext cx="1883664" cy="2157984"/>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em_mpc_t040.png"/>
          <p:cNvPicPr>
            <a:picLocks noChangeAspect="1"/>
          </p:cNvPicPr>
          <p:nvPr/>
        </p:nvPicPr>
        <p:blipFill>
          <a:blip r:embed="rId3"/>
          <a:stretch>
            <a:fillRect/>
          </a:stretch>
        </p:blipFill>
        <p:spPr>
          <a:xfrm>
            <a:off x="9784080" y="1097280"/>
            <a:ext cx="1737360" cy="1737360"/>
          </a:xfrm>
          <a:prstGeom prst="rect">
            <a:avLst/>
          </a:prstGeom>
        </p:spPr>
      </p:pic>
      <p:sp>
        <p:nvSpPr>
          <p:cNvPr id="15" name="TextBox 14"/>
          <p:cNvSpPr txBox="1"/>
          <p:nvPr/>
        </p:nvSpPr>
        <p:spPr>
          <a:xfrm>
            <a:off x="9784080" y="2852928"/>
            <a:ext cx="1737360" cy="274320"/>
          </a:xfrm>
          <a:prstGeom prst="rect">
            <a:avLst/>
          </a:prstGeom>
          <a:noFill/>
        </p:spPr>
        <p:txBody>
          <a:bodyPr wrap="square" anchor="t" lIns="0" rIns="0" tIns="0" bIns="0">
            <a:spAutoFit/>
          </a:bodyPr>
          <a:lstStyle/>
          <a:p>
            <a:pPr algn="ctr">
              <a:spcAft>
                <a:spcPts val="400"/>
              </a:spcAft>
            </a:pPr>
            <a:r>
              <a:rPr sz="1100" b="0" i="0">
                <a:solidFill>
                  <a:srgbClr val="A7B3C9"/>
                </a:solidFill>
                <a:latin typeface="Calibri"/>
              </a:rPr>
              <a:t>t = 40</a:t>
            </a:r>
          </a:p>
        </p:txBody>
      </p:sp>
      <p:sp>
        <p:nvSpPr>
          <p:cNvPr id="16" name="Rounded Rectangle 15"/>
          <p:cNvSpPr/>
          <p:nvPr/>
        </p:nvSpPr>
        <p:spPr>
          <a:xfrm>
            <a:off x="7744968" y="3355848"/>
            <a:ext cx="1883664" cy="2157984"/>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em_mpc_t060.png"/>
          <p:cNvPicPr>
            <a:picLocks noChangeAspect="1"/>
          </p:cNvPicPr>
          <p:nvPr/>
        </p:nvPicPr>
        <p:blipFill>
          <a:blip r:embed="rId4"/>
          <a:stretch>
            <a:fillRect/>
          </a:stretch>
        </p:blipFill>
        <p:spPr>
          <a:xfrm>
            <a:off x="7818120" y="3429000"/>
            <a:ext cx="1737360" cy="1737360"/>
          </a:xfrm>
          <a:prstGeom prst="rect">
            <a:avLst/>
          </a:prstGeom>
        </p:spPr>
      </p:pic>
      <p:sp>
        <p:nvSpPr>
          <p:cNvPr id="18" name="TextBox 17"/>
          <p:cNvSpPr txBox="1"/>
          <p:nvPr/>
        </p:nvSpPr>
        <p:spPr>
          <a:xfrm>
            <a:off x="7818120" y="5184648"/>
            <a:ext cx="1737360" cy="274320"/>
          </a:xfrm>
          <a:prstGeom prst="rect">
            <a:avLst/>
          </a:prstGeom>
          <a:noFill/>
        </p:spPr>
        <p:txBody>
          <a:bodyPr wrap="square" anchor="t" lIns="0" rIns="0" tIns="0" bIns="0">
            <a:spAutoFit/>
          </a:bodyPr>
          <a:lstStyle/>
          <a:p>
            <a:pPr algn="ctr">
              <a:spcAft>
                <a:spcPts val="400"/>
              </a:spcAft>
            </a:pPr>
            <a:r>
              <a:rPr sz="1100" b="0" i="0">
                <a:solidFill>
                  <a:srgbClr val="A7B3C9"/>
                </a:solidFill>
                <a:latin typeface="Calibri"/>
              </a:rPr>
              <a:t>t = 60</a:t>
            </a:r>
          </a:p>
        </p:txBody>
      </p:sp>
      <p:sp>
        <p:nvSpPr>
          <p:cNvPr id="19" name="Rounded Rectangle 18"/>
          <p:cNvSpPr/>
          <p:nvPr/>
        </p:nvSpPr>
        <p:spPr>
          <a:xfrm>
            <a:off x="9710928" y="3355848"/>
            <a:ext cx="1883664" cy="2157984"/>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em_mpc_t100.png"/>
          <p:cNvPicPr>
            <a:picLocks noChangeAspect="1"/>
          </p:cNvPicPr>
          <p:nvPr/>
        </p:nvPicPr>
        <p:blipFill>
          <a:blip r:embed="rId5"/>
          <a:stretch>
            <a:fillRect/>
          </a:stretch>
        </p:blipFill>
        <p:spPr>
          <a:xfrm>
            <a:off x="9784080" y="3429000"/>
            <a:ext cx="1737360" cy="1737360"/>
          </a:xfrm>
          <a:prstGeom prst="rect">
            <a:avLst/>
          </a:prstGeom>
        </p:spPr>
      </p:pic>
      <p:sp>
        <p:nvSpPr>
          <p:cNvPr id="21" name="TextBox 20"/>
          <p:cNvSpPr txBox="1"/>
          <p:nvPr/>
        </p:nvSpPr>
        <p:spPr>
          <a:xfrm>
            <a:off x="9784080" y="5184648"/>
            <a:ext cx="1737360" cy="274320"/>
          </a:xfrm>
          <a:prstGeom prst="rect">
            <a:avLst/>
          </a:prstGeom>
          <a:noFill/>
        </p:spPr>
        <p:txBody>
          <a:bodyPr wrap="square" anchor="t" lIns="0" rIns="0" tIns="0" bIns="0">
            <a:spAutoFit/>
          </a:bodyPr>
          <a:lstStyle/>
          <a:p>
            <a:pPr algn="ctr">
              <a:spcAft>
                <a:spcPts val="400"/>
              </a:spcAft>
            </a:pPr>
            <a:r>
              <a:rPr sz="1100" b="0" i="0">
                <a:solidFill>
                  <a:srgbClr val="A7B3C9"/>
                </a:solidFill>
                <a:latin typeface="Calibri"/>
              </a:rPr>
              <a:t>t = 100</a:t>
            </a:r>
          </a:p>
        </p:txBody>
      </p:sp>
      <p:sp>
        <p:nvSpPr>
          <p:cNvPr id="22" name="TextBox 21"/>
          <p:cNvSpPr txBox="1"/>
          <p:nvPr/>
        </p:nvSpPr>
        <p:spPr>
          <a:xfrm>
            <a:off x="7744968" y="5760720"/>
            <a:ext cx="3931920" cy="274320"/>
          </a:xfrm>
          <a:prstGeom prst="rect">
            <a:avLst/>
          </a:prstGeom>
          <a:noFill/>
        </p:spPr>
        <p:txBody>
          <a:bodyPr wrap="square" anchor="t" lIns="0" rIns="0" tIns="0" bIns="0">
            <a:spAutoFit/>
          </a:bodyPr>
          <a:lstStyle/>
          <a:p>
            <a:pPr algn="ctr">
              <a:spcAft>
                <a:spcPts val="400"/>
              </a:spcAft>
            </a:pPr>
            <a:r>
              <a:rPr sz="1100" b="0" i="0">
                <a:solidFill>
                  <a:srgbClr val="56637D"/>
                </a:solidFill>
                <a:latin typeface="Calibri"/>
              </a:rPr>
              <a:t>CEM planner swinging the pole up from hanging 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THE RESULT IN ONE SLIDE</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Mode-1 keeps the planner's skill at a fraction of its cost</a:t>
            </a:r>
          </a:p>
        </p:txBody>
      </p:sp>
      <p:sp>
        <p:nvSpPr>
          <p:cNvPr id="4" name="Rounded Rectangle 3"/>
          <p:cNvSpPr/>
          <p:nvPr/>
        </p:nvSpPr>
        <p:spPr>
          <a:xfrm>
            <a:off x="548640" y="1600200"/>
            <a:ext cx="3474720" cy="24688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26080" cy="868680"/>
          </a:xfrm>
          <a:prstGeom prst="rect">
            <a:avLst/>
          </a:prstGeom>
          <a:noFill/>
        </p:spPr>
        <p:txBody>
          <a:bodyPr wrap="square" anchor="t" lIns="0" rIns="0" tIns="0" bIns="0">
            <a:spAutoFit/>
          </a:bodyPr>
          <a:lstStyle/>
          <a:p>
            <a:pPr algn="l">
              <a:spcAft>
                <a:spcPts val="400"/>
              </a:spcAft>
            </a:pPr>
            <a:r>
              <a:rPr sz="6000" b="1" i="0">
                <a:solidFill>
                  <a:srgbClr val="2DD4BF"/>
                </a:solidFill>
                <a:latin typeface="Calibri"/>
              </a:rPr>
              <a:t>430×</a:t>
            </a:r>
          </a:p>
        </p:txBody>
      </p:sp>
      <p:sp>
        <p:nvSpPr>
          <p:cNvPr id="6" name="TextBox 5"/>
          <p:cNvSpPr txBox="1"/>
          <p:nvPr/>
        </p:nvSpPr>
        <p:spPr>
          <a:xfrm>
            <a:off x="868680" y="2697480"/>
            <a:ext cx="2926080" cy="64008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faster decisions: 0.096 ms for the policy vs 41.3 ms for the CEM planner</a:t>
            </a:r>
          </a:p>
        </p:txBody>
      </p:sp>
      <p:sp>
        <p:nvSpPr>
          <p:cNvPr id="7" name="Rounded Rectangle 6"/>
          <p:cNvSpPr/>
          <p:nvPr/>
        </p:nvSpPr>
        <p:spPr>
          <a:xfrm>
            <a:off x="4297679" y="1600200"/>
            <a:ext cx="3474720" cy="24688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19" y="1828800"/>
            <a:ext cx="2926080" cy="868680"/>
          </a:xfrm>
          <a:prstGeom prst="rect">
            <a:avLst/>
          </a:prstGeom>
          <a:noFill/>
        </p:spPr>
        <p:txBody>
          <a:bodyPr wrap="square" anchor="t" lIns="0" rIns="0" tIns="0" bIns="0">
            <a:spAutoFit/>
          </a:bodyPr>
          <a:lstStyle/>
          <a:p>
            <a:pPr algn="l">
              <a:spcAft>
                <a:spcPts val="400"/>
              </a:spcAft>
            </a:pPr>
            <a:r>
              <a:rPr sz="6000" b="1" i="0">
                <a:solidFill>
                  <a:srgbClr val="2DD4BF"/>
                </a:solidFill>
                <a:latin typeface="Calibri"/>
              </a:rPr>
              <a:t>98%</a:t>
            </a:r>
          </a:p>
        </p:txBody>
      </p:sp>
      <p:sp>
        <p:nvSpPr>
          <p:cNvPr id="9" name="TextBox 8"/>
          <p:cNvSpPr txBox="1"/>
          <p:nvPr/>
        </p:nvSpPr>
        <p:spPr>
          <a:xfrm>
            <a:off x="4617719" y="2697480"/>
            <a:ext cx="2926080" cy="64008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of the planner's improvement over random play is kept by the distilled policy</a:t>
            </a:r>
          </a:p>
        </p:txBody>
      </p:sp>
      <p:sp>
        <p:nvSpPr>
          <p:cNvPr id="10" name="Rounded Rectangle 9"/>
          <p:cNvSpPr/>
          <p:nvPr/>
        </p:nvSpPr>
        <p:spPr>
          <a:xfrm>
            <a:off x="8046719" y="1600200"/>
            <a:ext cx="3474720" cy="24688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59" y="1828800"/>
            <a:ext cx="2926080" cy="868680"/>
          </a:xfrm>
          <a:prstGeom prst="rect">
            <a:avLst/>
          </a:prstGeom>
          <a:noFill/>
        </p:spPr>
        <p:txBody>
          <a:bodyPr wrap="square" anchor="t" lIns="0" rIns="0" tIns="0" bIns="0">
            <a:spAutoFit/>
          </a:bodyPr>
          <a:lstStyle/>
          <a:p>
            <a:pPr algn="l">
              <a:spcAft>
                <a:spcPts val="400"/>
              </a:spcAft>
            </a:pPr>
            <a:r>
              <a:rPr sz="6000" b="1" i="0">
                <a:solidFill>
                  <a:srgbClr val="F5A524"/>
                </a:solidFill>
                <a:latin typeface="Calibri"/>
              </a:rPr>
              <a:t>15</a:t>
            </a:r>
          </a:p>
        </p:txBody>
      </p:sp>
      <p:sp>
        <p:nvSpPr>
          <p:cNvPr id="12" name="TextBox 11"/>
          <p:cNvSpPr txBox="1"/>
          <p:nvPr/>
        </p:nvSpPr>
        <p:spPr>
          <a:xfrm>
            <a:off x="8366759" y="2697480"/>
            <a:ext cx="2926080" cy="64008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imagined steps per plan, the same horizon as DreamerV3's imag_length</a:t>
            </a:r>
          </a:p>
        </p:txBody>
      </p:sp>
      <p:sp>
        <p:nvSpPr>
          <p:cNvPr id="13" name="Rounded Rectangle 12"/>
          <p:cNvSpPr/>
          <p:nvPr/>
        </p:nvSpPr>
        <p:spPr>
          <a:xfrm>
            <a:off x="548640" y="4343400"/>
            <a:ext cx="11064240" cy="169164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4846320"/>
            <a:ext cx="685800" cy="68580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icon bullseye" descr="bullseye.png"/>
          <p:cNvPicPr>
            <a:picLocks noChangeAspect="1"/>
          </p:cNvPicPr>
          <p:nvPr/>
        </p:nvPicPr>
        <p:blipFill>
          <a:blip r:embed="rId2"/>
          <a:stretch>
            <a:fillRect/>
          </a:stretch>
        </p:blipFill>
        <p:spPr>
          <a:xfrm>
            <a:off x="1033271" y="5010912"/>
            <a:ext cx="356616" cy="356616"/>
          </a:xfrm>
          <a:prstGeom prst="rect">
            <a:avLst/>
          </a:prstGeom>
        </p:spPr>
      </p:pic>
      <p:sp>
        <p:nvSpPr>
          <p:cNvPr id="16" name="TextBox 15"/>
          <p:cNvSpPr txBox="1"/>
          <p:nvPr/>
        </p:nvSpPr>
        <p:spPr>
          <a:xfrm>
            <a:off x="1828800" y="4572000"/>
            <a:ext cx="9509760" cy="1280160"/>
          </a:xfrm>
          <a:prstGeom prst="rect">
            <a:avLst/>
          </a:prstGeom>
          <a:noFill/>
        </p:spPr>
        <p:txBody>
          <a:bodyPr wrap="square" anchor="ctr" lIns="0" rIns="0" tIns="0" bIns="0">
            <a:spAutoFit/>
          </a:bodyPr>
          <a:lstStyle/>
          <a:p>
            <a:pPr algn="l">
              <a:spcAft>
                <a:spcPts val="1000"/>
              </a:spcAft>
            </a:pPr>
            <a:r>
              <a:rPr sz="1800" b="0" i="0">
                <a:solidFill>
                  <a:srgbClr val="F2F5FA"/>
                </a:solidFill>
                <a:latin typeface="Calibri"/>
              </a:rPr>
              <a:t>Returns over </a:t>
            </a:r>
            <a:r>
              <a:rPr sz="1800" b="1" i="0">
                <a:solidFill>
                  <a:srgbClr val="F2F5FA"/>
                </a:solidFill>
                <a:latin typeface="Calibri"/>
              </a:rPr>
              <a:t>15 unseen test episodes</a:t>
            </a:r>
            <a:r>
              <a:rPr sz="1800" b="0" i="0">
                <a:solidFill>
                  <a:srgbClr val="F2F5FA"/>
                </a:solidFill>
                <a:latin typeface="Calibri"/>
              </a:rPr>
              <a:t> (3 seeds), higher is better:</a:t>
            </a:r>
          </a:p>
          <a:p>
            <a:pPr algn="l">
              <a:spcAft>
                <a:spcPts val="1000"/>
              </a:spcAft>
            </a:pPr>
            <a:r>
              <a:rPr sz="1800" b="0" i="0">
                <a:solidFill>
                  <a:srgbClr val="A7B3C9"/>
                </a:solidFill>
                <a:latin typeface="Calibri"/>
              </a:rPr>
              <a:t>Random </a:t>
            </a:r>
            <a:r>
              <a:rPr sz="1800" b="1" i="0">
                <a:solidFill>
                  <a:srgbClr val="8A94A8"/>
                </a:solidFill>
                <a:latin typeface="Calibri"/>
              </a:rPr>
              <a:t>−1172</a:t>
            </a:r>
            <a:r>
              <a:rPr sz="1800" b="0" i="0">
                <a:solidFill>
                  <a:srgbClr val="A7B3C9"/>
                </a:solidFill>
                <a:latin typeface="Calibri"/>
              </a:rPr>
              <a:t>    Random-shooting MPC </a:t>
            </a:r>
            <a:r>
              <a:rPr sz="1800" b="1" i="0">
                <a:solidFill>
                  <a:srgbClr val="A78BFA"/>
                </a:solidFill>
                <a:latin typeface="Calibri"/>
              </a:rPr>
              <a:t>−187</a:t>
            </a:r>
            <a:r>
              <a:rPr sz="1800" b="0" i="0">
                <a:solidFill>
                  <a:srgbClr val="A7B3C9"/>
                </a:solidFill>
                <a:latin typeface="Calibri"/>
              </a:rPr>
              <a:t>    CEM MPC </a:t>
            </a:r>
            <a:r>
              <a:rPr sz="1800" b="1" i="0">
                <a:solidFill>
                  <a:srgbClr val="F5A524"/>
                </a:solidFill>
                <a:latin typeface="Calibri"/>
              </a:rPr>
              <a:t>−155</a:t>
            </a:r>
            <a:r>
              <a:rPr sz="1800" b="0" i="0">
                <a:solidFill>
                  <a:srgbClr val="A7B3C9"/>
                </a:solidFill>
                <a:latin typeface="Calibri"/>
              </a:rPr>
              <a:t>    Distilled policy </a:t>
            </a:r>
            <a:r>
              <a:rPr sz="1800" b="1" i="0">
                <a:solidFill>
                  <a:srgbClr val="2DD4BF"/>
                </a:solidFill>
                <a:latin typeface="Calibri"/>
              </a:rPr>
              <a:t>−173</a:t>
            </a:r>
          </a:p>
        </p:txBody>
      </p:sp>
      <p:sp>
        <p:nvSpPr>
          <p:cNvPr id="17" name="TextBox 16"/>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8" name="TextBox 17"/>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BACKGROUND</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Four readings, one idea: imagine in training, act fast</a:t>
            </a:r>
          </a:p>
        </p:txBody>
      </p:sp>
      <p:sp>
        <p:nvSpPr>
          <p:cNvPr id="4" name="Rounded Rectangle 3"/>
          <p:cNvSpPr/>
          <p:nvPr/>
        </p:nvSpPr>
        <p:spPr>
          <a:xfrm>
            <a:off x="548640" y="1600200"/>
            <a:ext cx="2606040" cy="45262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874519"/>
            <a:ext cx="640080" cy="64008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con brain" descr="brain.png"/>
          <p:cNvPicPr>
            <a:picLocks noChangeAspect="1"/>
          </p:cNvPicPr>
          <p:nvPr/>
        </p:nvPicPr>
        <p:blipFill>
          <a:blip r:embed="rId2"/>
          <a:stretch>
            <a:fillRect/>
          </a:stretch>
        </p:blipFill>
        <p:spPr>
          <a:xfrm>
            <a:off x="976579" y="2028139"/>
            <a:ext cx="332841" cy="332841"/>
          </a:xfrm>
          <a:prstGeom prst="rect">
            <a:avLst/>
          </a:prstGeom>
        </p:spPr>
      </p:pic>
      <p:sp>
        <p:nvSpPr>
          <p:cNvPr id="7" name="TextBox 6"/>
          <p:cNvSpPr txBox="1"/>
          <p:nvPr/>
        </p:nvSpPr>
        <p:spPr>
          <a:xfrm>
            <a:off x="822959" y="2697480"/>
            <a:ext cx="210312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LeCun (2022)</a:t>
            </a:r>
          </a:p>
        </p:txBody>
      </p:sp>
      <p:sp>
        <p:nvSpPr>
          <p:cNvPr id="8" name="TextBox 7"/>
          <p:cNvSpPr txBox="1"/>
          <p:nvPr/>
        </p:nvSpPr>
        <p:spPr>
          <a:xfrm>
            <a:off x="822959" y="3035808"/>
            <a:ext cx="2103120" cy="59436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A Path Towards Autonomous Machine Intelligence</a:t>
            </a:r>
          </a:p>
        </p:txBody>
      </p:sp>
      <p:sp>
        <p:nvSpPr>
          <p:cNvPr id="9" name="TextBox 8"/>
          <p:cNvSpPr txBox="1"/>
          <p:nvPr/>
        </p:nvSpPr>
        <p:spPr>
          <a:xfrm>
            <a:off x="822959" y="3703320"/>
            <a:ext cx="2148840" cy="2331720"/>
          </a:xfrm>
          <a:prstGeom prst="rect">
            <a:avLst/>
          </a:prstGeom>
          <a:noFill/>
        </p:spPr>
        <p:txBody>
          <a:bodyPr wrap="square" anchor="t" lIns="0" rIns="0" tIns="0" bIns="0">
            <a:spAutoFit/>
          </a:bodyPr>
          <a:lstStyle/>
          <a:p>
            <a:pPr algn="l" marL="256032" indent="-256032">
              <a:spcAft>
                <a:spcPts val="1000"/>
              </a:spcAft>
              <a:buClr>
                <a:srgbClr val="F5A524"/>
              </a:buClr>
              <a:buFont typeface="Arial"/>
              <a:buChar char="•"/>
            </a:pPr>
            <a:r>
              <a:rPr sz="1400" b="0" i="0">
                <a:solidFill>
                  <a:srgbClr val="F2F5FA"/>
                </a:solidFill>
                <a:latin typeface="Calibri"/>
              </a:rPr>
              <a:t>Mode-2: plan with a world model and a fixed intrinsic cost, act, replan</a:t>
            </a:r>
          </a:p>
          <a:p>
            <a:pPr algn="l" marL="256032" indent="-256032">
              <a:spcAft>
                <a:spcPts val="1000"/>
              </a:spcAft>
              <a:buClr>
                <a:srgbClr val="F5A524"/>
              </a:buClr>
              <a:buFont typeface="Arial"/>
              <a:buChar char="•"/>
            </a:pPr>
            <a:r>
              <a:rPr sz="1400" b="0" i="0">
                <a:solidFill>
                  <a:srgbClr val="F2F5FA"/>
                </a:solidFill>
                <a:latin typeface="Calibri"/>
              </a:rPr>
              <a:t>Fig. 5: compile Mode-2 plans into a fast Mode-1 policy</a:t>
            </a:r>
          </a:p>
        </p:txBody>
      </p:sp>
      <p:sp>
        <p:nvSpPr>
          <p:cNvPr id="10" name="Rounded Rectangle 9"/>
          <p:cNvSpPr/>
          <p:nvPr/>
        </p:nvSpPr>
        <p:spPr>
          <a:xfrm>
            <a:off x="3364992" y="1600200"/>
            <a:ext cx="2606040" cy="45262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39312" y="1874519"/>
            <a:ext cx="640080" cy="64008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con layers" descr="layers.png"/>
          <p:cNvPicPr>
            <a:picLocks noChangeAspect="1"/>
          </p:cNvPicPr>
          <p:nvPr/>
        </p:nvPicPr>
        <p:blipFill>
          <a:blip r:embed="rId3"/>
          <a:stretch>
            <a:fillRect/>
          </a:stretch>
        </p:blipFill>
        <p:spPr>
          <a:xfrm>
            <a:off x="3792931" y="2028139"/>
            <a:ext cx="332841" cy="332841"/>
          </a:xfrm>
          <a:prstGeom prst="rect">
            <a:avLst/>
          </a:prstGeom>
        </p:spPr>
      </p:pic>
      <p:sp>
        <p:nvSpPr>
          <p:cNvPr id="13" name="TextBox 12"/>
          <p:cNvSpPr txBox="1"/>
          <p:nvPr/>
        </p:nvSpPr>
        <p:spPr>
          <a:xfrm>
            <a:off x="3639312" y="2697480"/>
            <a:ext cx="210312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Ding et al. (2024)</a:t>
            </a:r>
          </a:p>
        </p:txBody>
      </p:sp>
      <p:sp>
        <p:nvSpPr>
          <p:cNvPr id="14" name="TextBox 13"/>
          <p:cNvSpPr txBox="1"/>
          <p:nvPr/>
        </p:nvSpPr>
        <p:spPr>
          <a:xfrm>
            <a:off x="3639312" y="3035808"/>
            <a:ext cx="2103120" cy="59436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Diffusion World Model</a:t>
            </a:r>
          </a:p>
        </p:txBody>
      </p:sp>
      <p:sp>
        <p:nvSpPr>
          <p:cNvPr id="15" name="TextBox 14"/>
          <p:cNvSpPr txBox="1"/>
          <p:nvPr/>
        </p:nvSpPr>
        <p:spPr>
          <a:xfrm>
            <a:off x="3639312" y="3703320"/>
            <a:ext cx="2148840" cy="2331720"/>
          </a:xfrm>
          <a:prstGeom prst="rect">
            <a:avLst/>
          </a:prstGeom>
          <a:noFill/>
        </p:spPr>
        <p:txBody>
          <a:bodyPr wrap="square" anchor="t" lIns="0" rIns="0" tIns="0" bIns="0">
            <a:spAutoFit/>
          </a:bodyPr>
          <a:lstStyle/>
          <a:p>
            <a:pPr algn="l" marL="256032" indent="-256032">
              <a:spcAft>
                <a:spcPts val="1000"/>
              </a:spcAft>
              <a:buClr>
                <a:srgbClr val="A78BFA"/>
              </a:buClr>
              <a:buFont typeface="Arial"/>
              <a:buChar char="•"/>
            </a:pPr>
            <a:r>
              <a:rPr sz="1400" b="0" i="0">
                <a:solidFill>
                  <a:srgbClr val="F2F5FA"/>
                </a:solidFill>
                <a:latin typeface="Calibri"/>
              </a:rPr>
              <a:t>One-step models compound error over long rollouts (Fig. 1.1)</a:t>
            </a:r>
          </a:p>
          <a:p>
            <a:pPr algn="l" marL="256032" indent="-256032">
              <a:spcAft>
                <a:spcPts val="1000"/>
              </a:spcAft>
              <a:buClr>
                <a:srgbClr val="A78BFA"/>
              </a:buClr>
              <a:buFont typeface="Arial"/>
              <a:buChar char="•"/>
            </a:pPr>
            <a:r>
              <a:rPr sz="1400" b="0" i="0">
                <a:solidFill>
                  <a:srgbClr val="F2F5FA"/>
                </a:solidFill>
                <a:latin typeface="Calibri"/>
              </a:rPr>
              <a:t>Imagined rollouts only in training, so the deployed policy is fast</a:t>
            </a:r>
          </a:p>
        </p:txBody>
      </p:sp>
      <p:sp>
        <p:nvSpPr>
          <p:cNvPr id="16" name="Rounded Rectangle 15"/>
          <p:cNvSpPr/>
          <p:nvPr/>
        </p:nvSpPr>
        <p:spPr>
          <a:xfrm>
            <a:off x="6181344" y="1600200"/>
            <a:ext cx="2606040" cy="45262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55664" y="1874519"/>
            <a:ext cx="640080" cy="64008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moon" descr="moon.png"/>
          <p:cNvPicPr>
            <a:picLocks noChangeAspect="1"/>
          </p:cNvPicPr>
          <p:nvPr/>
        </p:nvPicPr>
        <p:blipFill>
          <a:blip r:embed="rId4"/>
          <a:stretch>
            <a:fillRect/>
          </a:stretch>
        </p:blipFill>
        <p:spPr>
          <a:xfrm>
            <a:off x="6609283" y="2028139"/>
            <a:ext cx="332841" cy="332841"/>
          </a:xfrm>
          <a:prstGeom prst="rect">
            <a:avLst/>
          </a:prstGeom>
        </p:spPr>
      </p:pic>
      <p:sp>
        <p:nvSpPr>
          <p:cNvPr id="19" name="TextBox 18"/>
          <p:cNvSpPr txBox="1"/>
          <p:nvPr/>
        </p:nvSpPr>
        <p:spPr>
          <a:xfrm>
            <a:off x="6455664" y="2697480"/>
            <a:ext cx="210312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Hafner et al. (2023)</a:t>
            </a:r>
          </a:p>
        </p:txBody>
      </p:sp>
      <p:sp>
        <p:nvSpPr>
          <p:cNvPr id="20" name="TextBox 19"/>
          <p:cNvSpPr txBox="1"/>
          <p:nvPr/>
        </p:nvSpPr>
        <p:spPr>
          <a:xfrm>
            <a:off x="6455664" y="3035808"/>
            <a:ext cx="2103120" cy="59436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DreamerV3</a:t>
            </a:r>
          </a:p>
        </p:txBody>
      </p:sp>
      <p:sp>
        <p:nvSpPr>
          <p:cNvPr id="21" name="TextBox 20"/>
          <p:cNvSpPr txBox="1"/>
          <p:nvPr/>
        </p:nvSpPr>
        <p:spPr>
          <a:xfrm>
            <a:off x="6455664" y="3703320"/>
            <a:ext cx="2148840" cy="2331720"/>
          </a:xfrm>
          <a:prstGeom prst="rect">
            <a:avLst/>
          </a:prstGeom>
          <a:noFill/>
        </p:spPr>
        <p:txBody>
          <a:bodyPr wrap="square" anchor="t" lIns="0" rIns="0" tIns="0" bIns="0">
            <a:spAutoFit/>
          </a:bodyPr>
          <a:lstStyle/>
          <a:p>
            <a:pPr algn="l" marL="256032" indent="-256032">
              <a:spcAft>
                <a:spcPts val="1000"/>
              </a:spcAft>
              <a:buClr>
                <a:srgbClr val="2DD4BF"/>
              </a:buClr>
              <a:buFont typeface="Arial"/>
              <a:buChar char="•"/>
            </a:pPr>
            <a:r>
              <a:rPr sz="1400" b="0" i="0">
                <a:solidFill>
                  <a:srgbClr val="F2F5FA"/>
                </a:solidFill>
                <a:latin typeface="Calibri"/>
              </a:rPr>
              <a:t>Learn a world model from experience, train behaviour in short imagined rollouts</a:t>
            </a:r>
          </a:p>
          <a:p>
            <a:pPr algn="l" marL="256032" indent="-256032">
              <a:spcAft>
                <a:spcPts val="1000"/>
              </a:spcAft>
              <a:buClr>
                <a:srgbClr val="2DD4BF"/>
              </a:buClr>
              <a:buFont typeface="Arial"/>
              <a:buChar char="•"/>
            </a:pPr>
            <a:r>
              <a:rPr sz="1400" b="0" i="0">
                <a:solidFill>
                  <a:srgbClr val="F2F5FA"/>
                </a:solidFill>
                <a:latin typeface="Calibri"/>
              </a:rPr>
              <a:t>symlog makes regression targets robust</a:t>
            </a:r>
          </a:p>
        </p:txBody>
      </p:sp>
      <p:sp>
        <p:nvSpPr>
          <p:cNvPr id="22" name="Rounded Rectangle 21"/>
          <p:cNvSpPr/>
          <p:nvPr/>
        </p:nvSpPr>
        <p:spPr>
          <a:xfrm>
            <a:off x="8997696" y="1600200"/>
            <a:ext cx="2606040" cy="45262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72016" y="1874519"/>
            <a:ext cx="640080" cy="640080"/>
          </a:xfrm>
          <a:prstGeom prst="ellipse">
            <a:avLst/>
          </a:prstGeom>
          <a:solidFill>
            <a:srgbClr val="8A9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icon github" descr="github.png"/>
          <p:cNvPicPr>
            <a:picLocks noChangeAspect="1"/>
          </p:cNvPicPr>
          <p:nvPr/>
        </p:nvPicPr>
        <p:blipFill>
          <a:blip r:embed="rId5"/>
          <a:stretch>
            <a:fillRect/>
          </a:stretch>
        </p:blipFill>
        <p:spPr>
          <a:xfrm>
            <a:off x="9425635" y="2028139"/>
            <a:ext cx="332841" cy="332841"/>
          </a:xfrm>
          <a:prstGeom prst="rect">
            <a:avLst/>
          </a:prstGeom>
        </p:spPr>
      </p:pic>
      <p:sp>
        <p:nvSpPr>
          <p:cNvPr id="25" name="TextBox 24"/>
          <p:cNvSpPr txBox="1"/>
          <p:nvPr/>
        </p:nvSpPr>
        <p:spPr>
          <a:xfrm>
            <a:off x="9272016" y="2697480"/>
            <a:ext cx="210312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danijar/dreamerv3</a:t>
            </a:r>
          </a:p>
        </p:txBody>
      </p:sp>
      <p:sp>
        <p:nvSpPr>
          <p:cNvPr id="26" name="TextBox 25"/>
          <p:cNvSpPr txBox="1"/>
          <p:nvPr/>
        </p:nvSpPr>
        <p:spPr>
          <a:xfrm>
            <a:off x="9272016" y="3035808"/>
            <a:ext cx="2103120" cy="59436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Official code</a:t>
            </a:r>
          </a:p>
        </p:txBody>
      </p:sp>
      <p:sp>
        <p:nvSpPr>
          <p:cNvPr id="27" name="TextBox 26"/>
          <p:cNvSpPr txBox="1"/>
          <p:nvPr/>
        </p:nvSpPr>
        <p:spPr>
          <a:xfrm>
            <a:off x="9272016" y="3703320"/>
            <a:ext cx="2148840" cy="2331720"/>
          </a:xfrm>
          <a:prstGeom prst="rect">
            <a:avLst/>
          </a:prstGeom>
          <a:noFill/>
        </p:spPr>
        <p:txBody>
          <a:bodyPr wrap="square" anchor="t" lIns="0" rIns="0" tIns="0" bIns="0">
            <a:spAutoFit/>
          </a:bodyPr>
          <a:lstStyle/>
          <a:p>
            <a:pPr algn="l" marL="256032" indent="-256032">
              <a:spcAft>
                <a:spcPts val="1000"/>
              </a:spcAft>
              <a:buClr>
                <a:srgbClr val="8A94A8"/>
              </a:buClr>
              <a:buFont typeface="Arial"/>
              <a:buChar char="•"/>
            </a:pPr>
            <a:r>
              <a:rPr sz="1400" b="0" i="0">
                <a:solidFill>
                  <a:srgbClr val="F2F5FA"/>
                </a:solidFill>
                <a:latin typeface="Calibri"/>
              </a:rPr>
              <a:t>imag_length: 15 became my planning horizon</a:t>
            </a:r>
          </a:p>
          <a:p>
            <a:pPr algn="l" marL="256032" indent="-256032">
              <a:spcAft>
                <a:spcPts val="1000"/>
              </a:spcAft>
              <a:buClr>
                <a:srgbClr val="8A94A8"/>
              </a:buClr>
              <a:buFont typeface="Arial"/>
              <a:buChar char="•"/>
            </a:pPr>
            <a:r>
              <a:rPr sz="1400" b="0" i="0">
                <a:solidFill>
                  <a:srgbClr val="F2F5FA"/>
                </a:solidFill>
                <a:latin typeface="Calibri"/>
              </a:rPr>
              <a:t>symlog/symexp in nets.py; one configs.yaml became config.py</a:t>
            </a:r>
          </a:p>
        </p:txBody>
      </p:sp>
      <p:sp>
        <p:nvSpPr>
          <p:cNvPr id="28" name="TextBox 27"/>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29" name="TextBox 28"/>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LECUN'S ARCHITECTURE → MY CODE</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The same agent, run in two modes</a:t>
            </a:r>
          </a:p>
        </p:txBody>
      </p:sp>
      <p:sp>
        <p:nvSpPr>
          <p:cNvPr id="4" name="Rounded Rectangle 3"/>
          <p:cNvSpPr/>
          <p:nvPr/>
        </p:nvSpPr>
        <p:spPr>
          <a:xfrm>
            <a:off x="548640" y="1463040"/>
            <a:ext cx="11064240" cy="242316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5486400" cy="274320"/>
          </a:xfrm>
          <a:prstGeom prst="rect">
            <a:avLst/>
          </a:prstGeom>
          <a:noFill/>
        </p:spPr>
        <p:txBody>
          <a:bodyPr wrap="square" anchor="t" lIns="0" rIns="0" tIns="0" bIns="0">
            <a:spAutoFit/>
          </a:bodyPr>
          <a:lstStyle/>
          <a:p>
            <a:pPr algn="l">
              <a:spcAft>
                <a:spcPts val="400"/>
              </a:spcAft>
            </a:pPr>
            <a:r>
              <a:rPr sz="1300" b="1" i="0">
                <a:solidFill>
                  <a:srgbClr val="F5A524"/>
                </a:solidFill>
                <a:latin typeface="Calibri"/>
              </a:rPr>
              <a:t>MODE-2 · DELIBERATE</a:t>
            </a:r>
            <a:r>
              <a:rPr sz="1300" b="0" i="0">
                <a:solidFill>
                  <a:srgbClr val="A7B3C9"/>
                </a:solidFill>
                <a:latin typeface="Calibri"/>
              </a:rPr>
              <a:t>   41.3 ms per decision</a:t>
            </a:r>
          </a:p>
        </p:txBody>
      </p:sp>
      <p:sp>
        <p:nvSpPr>
          <p:cNvPr id="6" name="Rounded Rectangle 5"/>
          <p:cNvSpPr/>
          <p:nvPr/>
        </p:nvSpPr>
        <p:spPr>
          <a:xfrm>
            <a:off x="868680" y="2331720"/>
            <a:ext cx="201168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41448"/>
            <a:ext cx="2011680" cy="320040"/>
          </a:xfrm>
          <a:prstGeom prst="rect">
            <a:avLst/>
          </a:prstGeom>
          <a:noFill/>
        </p:spPr>
        <p:txBody>
          <a:bodyPr wrap="square" anchor="t" lIns="0" rIns="0" tIns="0" bIns="0">
            <a:spAutoFit/>
          </a:bodyPr>
          <a:lstStyle/>
          <a:p>
            <a:pPr algn="ctr">
              <a:spcAft>
                <a:spcPts val="400"/>
              </a:spcAft>
            </a:pPr>
            <a:r>
              <a:rPr sz="1500" b="1" i="0">
                <a:solidFill>
                  <a:srgbClr val="F2F5FA"/>
                </a:solidFill>
                <a:latin typeface="Calibri"/>
              </a:rPr>
              <a:t>Observation s</a:t>
            </a:r>
          </a:p>
        </p:txBody>
      </p:sp>
      <p:sp>
        <p:nvSpPr>
          <p:cNvPr id="8" name="TextBox 7"/>
          <p:cNvSpPr txBox="1"/>
          <p:nvPr/>
        </p:nvSpPr>
        <p:spPr>
          <a:xfrm>
            <a:off x="868680" y="2761487"/>
            <a:ext cx="201168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[cos, sin, dθ/dt]</a:t>
            </a:r>
          </a:p>
        </p:txBody>
      </p:sp>
      <p:sp>
        <p:nvSpPr>
          <p:cNvPr id="9" name="Rounded Rectangle 8"/>
          <p:cNvSpPr/>
          <p:nvPr/>
        </p:nvSpPr>
        <p:spPr>
          <a:xfrm>
            <a:off x="3429000" y="2331720"/>
            <a:ext cx="228600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2441448"/>
            <a:ext cx="2286000" cy="320040"/>
          </a:xfrm>
          <a:prstGeom prst="rect">
            <a:avLst/>
          </a:prstGeom>
          <a:noFill/>
        </p:spPr>
        <p:txBody>
          <a:bodyPr wrap="square" anchor="t" lIns="0" rIns="0" tIns="0" bIns="0">
            <a:spAutoFit/>
          </a:bodyPr>
          <a:lstStyle/>
          <a:p>
            <a:pPr algn="ctr">
              <a:spcAft>
                <a:spcPts val="400"/>
              </a:spcAft>
            </a:pPr>
            <a:r>
              <a:rPr sz="1500" b="1" i="0">
                <a:solidFill>
                  <a:srgbClr val="F5A524"/>
                </a:solidFill>
                <a:latin typeface="Calibri"/>
              </a:rPr>
              <a:t>CEM planner</a:t>
            </a:r>
          </a:p>
        </p:txBody>
      </p:sp>
      <p:sp>
        <p:nvSpPr>
          <p:cNvPr id="11" name="TextBox 10"/>
          <p:cNvSpPr txBox="1"/>
          <p:nvPr/>
        </p:nvSpPr>
        <p:spPr>
          <a:xfrm>
            <a:off x="3429000" y="2761487"/>
            <a:ext cx="228600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planner.py</a:t>
            </a:r>
          </a:p>
        </p:txBody>
      </p:sp>
      <p:sp>
        <p:nvSpPr>
          <p:cNvPr id="12" name="Rounded Rectangle 11"/>
          <p:cNvSpPr/>
          <p:nvPr/>
        </p:nvSpPr>
        <p:spPr>
          <a:xfrm>
            <a:off x="6355080" y="1783080"/>
            <a:ext cx="2377440" cy="73152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892807"/>
            <a:ext cx="2377440" cy="320040"/>
          </a:xfrm>
          <a:prstGeom prst="rect">
            <a:avLst/>
          </a:prstGeom>
          <a:noFill/>
        </p:spPr>
        <p:txBody>
          <a:bodyPr wrap="square" anchor="t" lIns="0" rIns="0" tIns="0" bIns="0">
            <a:spAutoFit/>
          </a:bodyPr>
          <a:lstStyle/>
          <a:p>
            <a:pPr algn="ctr">
              <a:spcAft>
                <a:spcPts val="400"/>
              </a:spcAft>
            </a:pPr>
            <a:r>
              <a:rPr sz="1500" b="1" i="0">
                <a:solidFill>
                  <a:srgbClr val="F2F5FA"/>
                </a:solidFill>
                <a:latin typeface="Calibri"/>
              </a:rPr>
              <a:t>World model</a:t>
            </a:r>
          </a:p>
        </p:txBody>
      </p:sp>
      <p:sp>
        <p:nvSpPr>
          <p:cNvPr id="14" name="TextBox 13"/>
          <p:cNvSpPr txBox="1"/>
          <p:nvPr/>
        </p:nvSpPr>
        <p:spPr>
          <a:xfrm>
            <a:off x="6355080" y="2212848"/>
            <a:ext cx="237744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world_model.py</a:t>
            </a:r>
          </a:p>
        </p:txBody>
      </p:sp>
      <p:sp>
        <p:nvSpPr>
          <p:cNvPr id="15" name="Rounded Rectangle 14"/>
          <p:cNvSpPr/>
          <p:nvPr/>
        </p:nvSpPr>
        <p:spPr>
          <a:xfrm>
            <a:off x="6355080" y="3017520"/>
            <a:ext cx="2377440" cy="73152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127248"/>
            <a:ext cx="2377440" cy="320040"/>
          </a:xfrm>
          <a:prstGeom prst="rect">
            <a:avLst/>
          </a:prstGeom>
          <a:noFill/>
        </p:spPr>
        <p:txBody>
          <a:bodyPr wrap="square" anchor="t" lIns="0" rIns="0" tIns="0" bIns="0">
            <a:spAutoFit/>
          </a:bodyPr>
          <a:lstStyle/>
          <a:p>
            <a:pPr algn="ctr">
              <a:spcAft>
                <a:spcPts val="400"/>
              </a:spcAft>
            </a:pPr>
            <a:r>
              <a:rPr sz="1500" b="1" i="0">
                <a:solidFill>
                  <a:srgbClr val="F2F5FA"/>
                </a:solidFill>
                <a:latin typeface="Calibri"/>
              </a:rPr>
              <a:t>Intrinsic cost</a:t>
            </a:r>
          </a:p>
        </p:txBody>
      </p:sp>
      <p:sp>
        <p:nvSpPr>
          <p:cNvPr id="17" name="TextBox 16"/>
          <p:cNvSpPr txBox="1"/>
          <p:nvPr/>
        </p:nvSpPr>
        <p:spPr>
          <a:xfrm>
            <a:off x="6355080" y="3447287"/>
            <a:ext cx="237744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cost.py</a:t>
            </a:r>
          </a:p>
        </p:txBody>
      </p:sp>
      <p:sp>
        <p:nvSpPr>
          <p:cNvPr id="18" name="Rounded Rectangle 17"/>
          <p:cNvSpPr/>
          <p:nvPr/>
        </p:nvSpPr>
        <p:spPr>
          <a:xfrm>
            <a:off x="9281160" y="2331720"/>
            <a:ext cx="205740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2441448"/>
            <a:ext cx="2057400" cy="320040"/>
          </a:xfrm>
          <a:prstGeom prst="rect">
            <a:avLst/>
          </a:prstGeom>
          <a:noFill/>
        </p:spPr>
        <p:txBody>
          <a:bodyPr wrap="square" anchor="t" lIns="0" rIns="0" tIns="0" bIns="0">
            <a:spAutoFit/>
          </a:bodyPr>
          <a:lstStyle/>
          <a:p>
            <a:pPr algn="ctr">
              <a:spcAft>
                <a:spcPts val="400"/>
              </a:spcAft>
            </a:pPr>
            <a:r>
              <a:rPr sz="1500" b="1" i="0">
                <a:solidFill>
                  <a:srgbClr val="F5A524"/>
                </a:solidFill>
                <a:latin typeface="Calibri"/>
              </a:rPr>
              <a:t>Execute a₀</a:t>
            </a:r>
          </a:p>
        </p:txBody>
      </p:sp>
      <p:sp>
        <p:nvSpPr>
          <p:cNvPr id="20" name="TextBox 19"/>
          <p:cNvSpPr txBox="1"/>
          <p:nvPr/>
        </p:nvSpPr>
        <p:spPr>
          <a:xfrm>
            <a:off x="9281160" y="2761487"/>
            <a:ext cx="205740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then replan</a:t>
            </a:r>
          </a:p>
        </p:txBody>
      </p:sp>
      <p:cxnSp>
        <p:nvCxnSpPr>
          <p:cNvPr id="21" name="Connector 20"/>
          <p:cNvCxnSpPr/>
          <p:nvPr/>
        </p:nvCxnSpPr>
        <p:spPr>
          <a:xfrm>
            <a:off x="2880360" y="2761488"/>
            <a:ext cx="548640" cy="0"/>
          </a:xfrm>
          <a:prstGeom prst="line">
            <a:avLst/>
          </a:prstGeom>
          <a:ln w="25400">
            <a:solidFill>
              <a:srgbClr val="A7B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715000" y="2148840"/>
            <a:ext cx="640080" cy="411480"/>
          </a:xfrm>
          <a:prstGeom prst="line">
            <a:avLst/>
          </a:prstGeom>
          <a:ln w="25400">
            <a:solidFill>
              <a:srgbClr val="A7B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715000" y="2971800"/>
            <a:ext cx="640080" cy="411480"/>
          </a:xfrm>
          <a:prstGeom prst="line">
            <a:avLst/>
          </a:prstGeom>
          <a:ln w="25400">
            <a:solidFill>
              <a:srgbClr val="A7B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15000" y="2761488"/>
            <a:ext cx="3566160" cy="0"/>
          </a:xfrm>
          <a:prstGeom prst="line">
            <a:avLst/>
          </a:prstGeom>
          <a:ln w="25400">
            <a:solidFill>
              <a:srgbClr val="F5A5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29000" y="1874519"/>
            <a:ext cx="2743200" cy="274320"/>
          </a:xfrm>
          <a:prstGeom prst="rect">
            <a:avLst/>
          </a:prstGeom>
          <a:noFill/>
        </p:spPr>
        <p:txBody>
          <a:bodyPr wrap="square" anchor="t" lIns="0" rIns="0" tIns="0" bIns="0">
            <a:spAutoFit/>
          </a:bodyPr>
          <a:lstStyle/>
          <a:p>
            <a:pPr algn="l">
              <a:spcAft>
                <a:spcPts val="400"/>
              </a:spcAft>
            </a:pPr>
            <a:r>
              <a:rPr sz="1200" b="0" i="0">
                <a:solidFill>
                  <a:srgbClr val="A7B3C9"/>
                </a:solidFill>
                <a:latin typeface="Calibri"/>
              </a:rPr>
              <a:t>imagine 15 steps × 300 plans</a:t>
            </a:r>
          </a:p>
        </p:txBody>
      </p:sp>
      <p:cxnSp>
        <p:nvCxnSpPr>
          <p:cNvPr id="26" name="Connector 25"/>
          <p:cNvCxnSpPr/>
          <p:nvPr/>
        </p:nvCxnSpPr>
        <p:spPr>
          <a:xfrm>
            <a:off x="4572000" y="3200400"/>
            <a:ext cx="0" cy="1600200"/>
          </a:xfrm>
          <a:prstGeom prst="line">
            <a:avLst/>
          </a:prstGeom>
          <a:ln w="3175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754880" y="3895344"/>
            <a:ext cx="4114800" cy="292608"/>
          </a:xfrm>
          <a:prstGeom prst="rect">
            <a:avLst/>
          </a:prstGeom>
          <a:noFill/>
        </p:spPr>
        <p:txBody>
          <a:bodyPr wrap="square" anchor="ctr" lIns="0" rIns="0" tIns="0" bIns="0">
            <a:spAutoFit/>
          </a:bodyPr>
          <a:lstStyle/>
          <a:p>
            <a:pPr algn="l">
              <a:spcAft>
                <a:spcPts val="400"/>
              </a:spcAft>
            </a:pPr>
            <a:r>
              <a:rPr sz="1400" b="1" i="0">
                <a:solidFill>
                  <a:srgbClr val="2DD4BF"/>
                </a:solidFill>
                <a:latin typeface="Calibri"/>
              </a:rPr>
              <a:t>distil: </a:t>
            </a:r>
            <a:r>
              <a:rPr sz="1400" b="0" i="0">
                <a:solidFill>
                  <a:srgbClr val="F2F5FA"/>
                </a:solidFill>
                <a:latin typeface="Calibri"/>
              </a:rPr>
              <a:t>BC + DAgger on planner labels</a:t>
            </a:r>
          </a:p>
        </p:txBody>
      </p:sp>
      <p:sp>
        <p:nvSpPr>
          <p:cNvPr id="28" name="Rounded Rectangle 27"/>
          <p:cNvSpPr/>
          <p:nvPr/>
        </p:nvSpPr>
        <p:spPr>
          <a:xfrm>
            <a:off x="548640" y="4206240"/>
            <a:ext cx="11064240" cy="17830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315968"/>
            <a:ext cx="5486400" cy="274320"/>
          </a:xfrm>
          <a:prstGeom prst="rect">
            <a:avLst/>
          </a:prstGeom>
          <a:noFill/>
        </p:spPr>
        <p:txBody>
          <a:bodyPr wrap="square" anchor="t" lIns="0" rIns="0" tIns="0" bIns="0">
            <a:spAutoFit/>
          </a:bodyPr>
          <a:lstStyle/>
          <a:p>
            <a:pPr algn="l">
              <a:spcAft>
                <a:spcPts val="400"/>
              </a:spcAft>
            </a:pPr>
            <a:r>
              <a:rPr sz="1300" b="1" i="0">
                <a:solidFill>
                  <a:srgbClr val="2DD4BF"/>
                </a:solidFill>
                <a:latin typeface="Calibri"/>
              </a:rPr>
              <a:t>MODE-1 · REACTIVE</a:t>
            </a:r>
            <a:r>
              <a:rPr sz="1300" b="0" i="0">
                <a:solidFill>
                  <a:srgbClr val="A7B3C9"/>
                </a:solidFill>
                <a:latin typeface="Calibri"/>
              </a:rPr>
              <a:t>   0.096 ms per decision</a:t>
            </a:r>
          </a:p>
        </p:txBody>
      </p:sp>
      <p:sp>
        <p:nvSpPr>
          <p:cNvPr id="30" name="Rounded Rectangle 29"/>
          <p:cNvSpPr/>
          <p:nvPr/>
        </p:nvSpPr>
        <p:spPr>
          <a:xfrm>
            <a:off x="868680" y="4800600"/>
            <a:ext cx="201168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10328"/>
            <a:ext cx="2011680" cy="320040"/>
          </a:xfrm>
          <a:prstGeom prst="rect">
            <a:avLst/>
          </a:prstGeom>
          <a:noFill/>
        </p:spPr>
        <p:txBody>
          <a:bodyPr wrap="square" anchor="t" lIns="0" rIns="0" tIns="0" bIns="0">
            <a:spAutoFit/>
          </a:bodyPr>
          <a:lstStyle/>
          <a:p>
            <a:pPr algn="ctr">
              <a:spcAft>
                <a:spcPts val="400"/>
              </a:spcAft>
            </a:pPr>
            <a:r>
              <a:rPr sz="1500" b="1" i="0">
                <a:solidFill>
                  <a:srgbClr val="F2F5FA"/>
                </a:solidFill>
                <a:latin typeface="Calibri"/>
              </a:rPr>
              <a:t>Observation s</a:t>
            </a:r>
          </a:p>
        </p:txBody>
      </p:sp>
      <p:sp>
        <p:nvSpPr>
          <p:cNvPr id="32" name="TextBox 31"/>
          <p:cNvSpPr txBox="1"/>
          <p:nvPr/>
        </p:nvSpPr>
        <p:spPr>
          <a:xfrm>
            <a:off x="868680" y="5230368"/>
            <a:ext cx="201168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[cos, sin, dθ/dt]</a:t>
            </a:r>
          </a:p>
        </p:txBody>
      </p:sp>
      <p:sp>
        <p:nvSpPr>
          <p:cNvPr id="33" name="Rounded Rectangle 32"/>
          <p:cNvSpPr/>
          <p:nvPr/>
        </p:nvSpPr>
        <p:spPr>
          <a:xfrm>
            <a:off x="3429000" y="4800600"/>
            <a:ext cx="228600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4910328"/>
            <a:ext cx="2286000" cy="320040"/>
          </a:xfrm>
          <a:prstGeom prst="rect">
            <a:avLst/>
          </a:prstGeom>
          <a:noFill/>
        </p:spPr>
        <p:txBody>
          <a:bodyPr wrap="square" anchor="t" lIns="0" rIns="0" tIns="0" bIns="0">
            <a:spAutoFit/>
          </a:bodyPr>
          <a:lstStyle/>
          <a:p>
            <a:pPr algn="ctr">
              <a:spcAft>
                <a:spcPts val="400"/>
              </a:spcAft>
            </a:pPr>
            <a:r>
              <a:rPr sz="1500" b="1" i="0">
                <a:solidFill>
                  <a:srgbClr val="2DD4BF"/>
                </a:solidFill>
                <a:latin typeface="Calibri"/>
              </a:rPr>
              <a:t>Policy π(s)</a:t>
            </a:r>
          </a:p>
        </p:txBody>
      </p:sp>
      <p:sp>
        <p:nvSpPr>
          <p:cNvPr id="35" name="TextBox 34"/>
          <p:cNvSpPr txBox="1"/>
          <p:nvPr/>
        </p:nvSpPr>
        <p:spPr>
          <a:xfrm>
            <a:off x="3429000" y="5230368"/>
            <a:ext cx="228600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policy.py</a:t>
            </a:r>
          </a:p>
        </p:txBody>
      </p:sp>
      <p:sp>
        <p:nvSpPr>
          <p:cNvPr id="36" name="Rounded Rectangle 35"/>
          <p:cNvSpPr/>
          <p:nvPr/>
        </p:nvSpPr>
        <p:spPr>
          <a:xfrm>
            <a:off x="9281160" y="4800600"/>
            <a:ext cx="2057400" cy="868680"/>
          </a:xfrm>
          <a:prstGeom prst="roundRect">
            <a:avLst>
              <a:gd name="adj" fmla="val 12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81160" y="4910328"/>
            <a:ext cx="2057400" cy="320040"/>
          </a:xfrm>
          <a:prstGeom prst="rect">
            <a:avLst/>
          </a:prstGeom>
          <a:noFill/>
        </p:spPr>
        <p:txBody>
          <a:bodyPr wrap="square" anchor="t" lIns="0" rIns="0" tIns="0" bIns="0">
            <a:spAutoFit/>
          </a:bodyPr>
          <a:lstStyle/>
          <a:p>
            <a:pPr algn="ctr">
              <a:spcAft>
                <a:spcPts val="400"/>
              </a:spcAft>
            </a:pPr>
            <a:r>
              <a:rPr sz="1500" b="1" i="0">
                <a:solidFill>
                  <a:srgbClr val="2DD4BF"/>
                </a:solidFill>
                <a:latin typeface="Calibri"/>
              </a:rPr>
              <a:t>Execute a</a:t>
            </a:r>
          </a:p>
        </p:txBody>
      </p:sp>
      <p:sp>
        <p:nvSpPr>
          <p:cNvPr id="38" name="TextBox 37"/>
          <p:cNvSpPr txBox="1"/>
          <p:nvPr/>
        </p:nvSpPr>
        <p:spPr>
          <a:xfrm>
            <a:off x="9281160" y="5230368"/>
            <a:ext cx="205740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ourier New"/>
              </a:rPr>
              <a:t>every step</a:t>
            </a:r>
          </a:p>
        </p:txBody>
      </p:sp>
      <p:cxnSp>
        <p:nvCxnSpPr>
          <p:cNvPr id="39" name="Connector 38"/>
          <p:cNvCxnSpPr/>
          <p:nvPr/>
        </p:nvCxnSpPr>
        <p:spPr>
          <a:xfrm>
            <a:off x="2880360" y="5230368"/>
            <a:ext cx="548640" cy="0"/>
          </a:xfrm>
          <a:prstGeom prst="line">
            <a:avLst/>
          </a:prstGeom>
          <a:ln w="25400">
            <a:solidFill>
              <a:srgbClr val="A7B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715000" y="5230368"/>
            <a:ext cx="3566160" cy="0"/>
          </a:xfrm>
          <a:prstGeom prst="line">
            <a:avLst/>
          </a:prstGeom>
          <a:ln w="25400">
            <a:solidFill>
              <a:srgbClr val="A7B3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0" y="4864608"/>
            <a:ext cx="3108960" cy="274320"/>
          </a:xfrm>
          <a:prstGeom prst="rect">
            <a:avLst/>
          </a:prstGeom>
          <a:noFill/>
        </p:spPr>
        <p:txBody>
          <a:bodyPr wrap="square" anchor="t" lIns="0" rIns="0" tIns="0" bIns="0">
            <a:spAutoFit/>
          </a:bodyPr>
          <a:lstStyle/>
          <a:p>
            <a:pPr algn="ctr">
              <a:spcAft>
                <a:spcPts val="400"/>
              </a:spcAft>
            </a:pPr>
            <a:r>
              <a:rPr sz="1200" b="0" i="0">
                <a:solidFill>
                  <a:srgbClr val="A7B3C9"/>
                </a:solidFill>
                <a:latin typeface="Calibri"/>
              </a:rPr>
              <a:t>one forward pass, no search</a:t>
            </a:r>
          </a:p>
        </p:txBody>
      </p:sp>
      <p:sp>
        <p:nvSpPr>
          <p:cNvPr id="42" name="TextBox 41"/>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43" name="TextBox 42"/>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THE ROBOT</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Pendulum-v1: a small but real swing-up problem</a:t>
            </a:r>
          </a:p>
        </p:txBody>
      </p:sp>
      <p:sp>
        <p:nvSpPr>
          <p:cNvPr id="4" name="Rounded Rectangle 3"/>
          <p:cNvSpPr/>
          <p:nvPr/>
        </p:nvSpPr>
        <p:spPr>
          <a:xfrm>
            <a:off x="548640" y="1508760"/>
            <a:ext cx="4206240" cy="452628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m_mpc_t050.png"/>
          <p:cNvPicPr>
            <a:picLocks noChangeAspect="1"/>
          </p:cNvPicPr>
          <p:nvPr/>
        </p:nvPicPr>
        <p:blipFill>
          <a:blip r:embed="rId2"/>
          <a:stretch>
            <a:fillRect/>
          </a:stretch>
        </p:blipFill>
        <p:spPr>
          <a:xfrm>
            <a:off x="868680" y="1783080"/>
            <a:ext cx="3566160" cy="3566160"/>
          </a:xfrm>
          <a:prstGeom prst="rect">
            <a:avLst/>
          </a:prstGeom>
        </p:spPr>
      </p:pic>
      <p:sp>
        <p:nvSpPr>
          <p:cNvPr id="6" name="TextBox 5"/>
          <p:cNvSpPr txBox="1"/>
          <p:nvPr/>
        </p:nvSpPr>
        <p:spPr>
          <a:xfrm>
            <a:off x="777240" y="5440680"/>
            <a:ext cx="3749039" cy="457200"/>
          </a:xfrm>
          <a:prstGeom prst="rect">
            <a:avLst/>
          </a:prstGeom>
          <a:noFill/>
        </p:spPr>
        <p:txBody>
          <a:bodyPr wrap="square" anchor="t" lIns="0" rIns="0" tIns="0" bIns="0">
            <a:spAutoFit/>
          </a:bodyPr>
          <a:lstStyle/>
          <a:p>
            <a:pPr algn="ctr">
              <a:spcAft>
                <a:spcPts val="400"/>
              </a:spcAft>
            </a:pPr>
            <a:r>
              <a:rPr sz="1300" b="0" i="0">
                <a:solidFill>
                  <a:srgbClr val="A7B3C9"/>
                </a:solidFill>
                <a:latin typeface="Calibri"/>
              </a:rPr>
              <a:t>Torque is limited to ±2 N·m, so the pole must be swung, not lifted</a:t>
            </a:r>
          </a:p>
        </p:txBody>
      </p:sp>
      <p:sp>
        <p:nvSpPr>
          <p:cNvPr id="7" name="Oval 6"/>
          <p:cNvSpPr/>
          <p:nvPr/>
        </p:nvSpPr>
        <p:spPr>
          <a:xfrm>
            <a:off x="5166360" y="1600200"/>
            <a:ext cx="603504" cy="6035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network" descr="network.png"/>
          <p:cNvPicPr>
            <a:picLocks noChangeAspect="1"/>
          </p:cNvPicPr>
          <p:nvPr/>
        </p:nvPicPr>
        <p:blipFill>
          <a:blip r:embed="rId3"/>
          <a:stretch>
            <a:fillRect/>
          </a:stretch>
        </p:blipFill>
        <p:spPr>
          <a:xfrm>
            <a:off x="5311200" y="1745040"/>
            <a:ext cx="313822" cy="313822"/>
          </a:xfrm>
          <a:prstGeom prst="rect">
            <a:avLst/>
          </a:prstGeom>
        </p:spPr>
      </p:pic>
      <p:sp>
        <p:nvSpPr>
          <p:cNvPr id="9" name="TextBox 8"/>
          <p:cNvSpPr txBox="1"/>
          <p:nvPr/>
        </p:nvSpPr>
        <p:spPr>
          <a:xfrm>
            <a:off x="5989320" y="1563624"/>
            <a:ext cx="557784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State</a:t>
            </a:r>
          </a:p>
        </p:txBody>
      </p:sp>
      <p:sp>
        <p:nvSpPr>
          <p:cNvPr id="10" name="TextBox 9"/>
          <p:cNvSpPr txBox="1"/>
          <p:nvPr/>
        </p:nvSpPr>
        <p:spPr>
          <a:xfrm>
            <a:off x="5989320" y="1929384"/>
            <a:ext cx="5577840" cy="54864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s = [cos θ, sin θ, θ̇],  θ̇ ∈ [−8, 8] rad/s</a:t>
            </a:r>
          </a:p>
        </p:txBody>
      </p:sp>
      <p:sp>
        <p:nvSpPr>
          <p:cNvPr id="11" name="Oval 10"/>
          <p:cNvSpPr/>
          <p:nvPr/>
        </p:nvSpPr>
        <p:spPr>
          <a:xfrm>
            <a:off x="5166360" y="2715768"/>
            <a:ext cx="603504" cy="6035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con cogs" descr="cogs.png"/>
          <p:cNvPicPr>
            <a:picLocks noChangeAspect="1"/>
          </p:cNvPicPr>
          <p:nvPr/>
        </p:nvPicPr>
        <p:blipFill>
          <a:blip r:embed="rId4"/>
          <a:stretch>
            <a:fillRect/>
          </a:stretch>
        </p:blipFill>
        <p:spPr>
          <a:xfrm>
            <a:off x="5311200" y="2860608"/>
            <a:ext cx="313822" cy="313822"/>
          </a:xfrm>
          <a:prstGeom prst="rect">
            <a:avLst/>
          </a:prstGeom>
        </p:spPr>
      </p:pic>
      <p:sp>
        <p:nvSpPr>
          <p:cNvPr id="13" name="TextBox 12"/>
          <p:cNvSpPr txBox="1"/>
          <p:nvPr/>
        </p:nvSpPr>
        <p:spPr>
          <a:xfrm>
            <a:off x="5989320" y="2679191"/>
            <a:ext cx="557784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Action</a:t>
            </a:r>
          </a:p>
        </p:txBody>
      </p:sp>
      <p:sp>
        <p:nvSpPr>
          <p:cNvPr id="14" name="TextBox 13"/>
          <p:cNvSpPr txBox="1"/>
          <p:nvPr/>
        </p:nvSpPr>
        <p:spPr>
          <a:xfrm>
            <a:off x="5989320" y="3044951"/>
            <a:ext cx="5577840" cy="54864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torque u ∈ [−2, 2] N·m, 20 Hz control (dt = 0.05 s)</a:t>
            </a:r>
          </a:p>
        </p:txBody>
      </p:sp>
      <p:sp>
        <p:nvSpPr>
          <p:cNvPr id="15" name="Oval 14"/>
          <p:cNvSpPr/>
          <p:nvPr/>
        </p:nvSpPr>
        <p:spPr>
          <a:xfrm>
            <a:off x="5166360" y="3831335"/>
            <a:ext cx="603504" cy="6035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bullseye" descr="bullseye.png"/>
          <p:cNvPicPr>
            <a:picLocks noChangeAspect="1"/>
          </p:cNvPicPr>
          <p:nvPr/>
        </p:nvPicPr>
        <p:blipFill>
          <a:blip r:embed="rId5"/>
          <a:stretch>
            <a:fillRect/>
          </a:stretch>
        </p:blipFill>
        <p:spPr>
          <a:xfrm>
            <a:off x="5311200" y="3976176"/>
            <a:ext cx="313822" cy="313822"/>
          </a:xfrm>
          <a:prstGeom prst="rect">
            <a:avLst/>
          </a:prstGeom>
        </p:spPr>
      </p:pic>
      <p:sp>
        <p:nvSpPr>
          <p:cNvPr id="17" name="TextBox 16"/>
          <p:cNvSpPr txBox="1"/>
          <p:nvPr/>
        </p:nvSpPr>
        <p:spPr>
          <a:xfrm>
            <a:off x="5989320" y="3794759"/>
            <a:ext cx="557784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Cost (negative reward)</a:t>
            </a:r>
          </a:p>
        </p:txBody>
      </p:sp>
      <p:sp>
        <p:nvSpPr>
          <p:cNvPr id="18" name="TextBox 17"/>
          <p:cNvSpPr txBox="1"/>
          <p:nvPr/>
        </p:nvSpPr>
        <p:spPr>
          <a:xfrm>
            <a:off x="5989320" y="4160520"/>
            <a:ext cx="5577840" cy="54864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θ² + 0.1·θ̇² + 0.001·u²   (0 = upright and still)</a:t>
            </a:r>
          </a:p>
        </p:txBody>
      </p:sp>
      <p:sp>
        <p:nvSpPr>
          <p:cNvPr id="19" name="Oval 18"/>
          <p:cNvSpPr/>
          <p:nvPr/>
        </p:nvSpPr>
        <p:spPr>
          <a:xfrm>
            <a:off x="5166360" y="4946904"/>
            <a:ext cx="603504" cy="603504"/>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icon clock" descr="clock.png"/>
          <p:cNvPicPr>
            <a:picLocks noChangeAspect="1"/>
          </p:cNvPicPr>
          <p:nvPr/>
        </p:nvPicPr>
        <p:blipFill>
          <a:blip r:embed="rId6"/>
          <a:stretch>
            <a:fillRect/>
          </a:stretch>
        </p:blipFill>
        <p:spPr>
          <a:xfrm>
            <a:off x="5311200" y="5091744"/>
            <a:ext cx="313822" cy="313822"/>
          </a:xfrm>
          <a:prstGeom prst="rect">
            <a:avLst/>
          </a:prstGeom>
        </p:spPr>
      </p:pic>
      <p:sp>
        <p:nvSpPr>
          <p:cNvPr id="21" name="TextBox 20"/>
          <p:cNvSpPr txBox="1"/>
          <p:nvPr/>
        </p:nvSpPr>
        <p:spPr>
          <a:xfrm>
            <a:off x="5989320" y="4910328"/>
            <a:ext cx="5577840" cy="320040"/>
          </a:xfrm>
          <a:prstGeom prst="rect">
            <a:avLst/>
          </a:prstGeom>
          <a:noFill/>
        </p:spPr>
        <p:txBody>
          <a:bodyPr wrap="square" anchor="t" lIns="0" rIns="0" tIns="0" bIns="0">
            <a:spAutoFit/>
          </a:bodyPr>
          <a:lstStyle/>
          <a:p>
            <a:pPr algn="l">
              <a:spcAft>
                <a:spcPts val="400"/>
              </a:spcAft>
            </a:pPr>
            <a:r>
              <a:rPr sz="1800" b="1" i="0">
                <a:solidFill>
                  <a:srgbClr val="F2F5FA"/>
                </a:solidFill>
                <a:latin typeface="Calibri"/>
              </a:rPr>
              <a:t>Episode</a:t>
            </a:r>
          </a:p>
        </p:txBody>
      </p:sp>
      <p:sp>
        <p:nvSpPr>
          <p:cNvPr id="22" name="TextBox 21"/>
          <p:cNvSpPr txBox="1"/>
          <p:nvPr/>
        </p:nvSpPr>
        <p:spPr>
          <a:xfrm>
            <a:off x="5989320" y="5276088"/>
            <a:ext cx="5577840" cy="548640"/>
          </a:xfrm>
          <a:prstGeom prst="rect">
            <a:avLst/>
          </a:prstGeom>
          <a:noFill/>
        </p:spPr>
        <p:txBody>
          <a:bodyPr wrap="square" anchor="t" lIns="0" rIns="0" tIns="0" bIns="0">
            <a:spAutoFit/>
          </a:bodyPr>
          <a:lstStyle/>
          <a:p>
            <a:pPr algn="l">
              <a:spcAft>
                <a:spcPts val="400"/>
              </a:spcAft>
            </a:pPr>
            <a:r>
              <a:rPr sz="1500" b="0" i="0">
                <a:solidFill>
                  <a:srgbClr val="A7B3C9"/>
                </a:solidFill>
                <a:latin typeface="Calibri"/>
              </a:rPr>
              <a:t>200 steps. Random play: −1172. Good swing-up: about −120 to −240</a:t>
            </a:r>
          </a:p>
        </p:txBody>
      </p:sp>
      <p:sp>
        <p:nvSpPr>
          <p:cNvPr id="23" name="TextBox 22"/>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24" name="TextBox 23"/>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HOW THE CODE WORKS</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One command, six stages: python main.py</a:t>
            </a:r>
          </a:p>
        </p:txBody>
      </p:sp>
      <p:sp>
        <p:nvSpPr>
          <p:cNvPr id="4" name="Rounded Rectangle 3"/>
          <p:cNvSpPr/>
          <p:nvPr/>
        </p:nvSpPr>
        <p:spPr>
          <a:xfrm>
            <a:off x="548640" y="155448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828800"/>
            <a:ext cx="457200" cy="45720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1</a:t>
            </a:r>
          </a:p>
        </p:txBody>
      </p:sp>
      <p:sp>
        <p:nvSpPr>
          <p:cNvPr id="6" name="TextBox 5"/>
          <p:cNvSpPr txBox="1"/>
          <p:nvPr/>
        </p:nvSpPr>
        <p:spPr>
          <a:xfrm>
            <a:off x="1463040" y="182880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Collect data</a:t>
            </a:r>
          </a:p>
        </p:txBody>
      </p:sp>
      <p:sp>
        <p:nvSpPr>
          <p:cNvPr id="7" name="TextBox 6"/>
          <p:cNvSpPr txBox="1"/>
          <p:nvPr/>
        </p:nvSpPr>
        <p:spPr>
          <a:xfrm>
            <a:off x="822959" y="2423160"/>
            <a:ext cx="3017520" cy="274320"/>
          </a:xfrm>
          <a:prstGeom prst="rect">
            <a:avLst/>
          </a:prstGeom>
          <a:noFill/>
        </p:spPr>
        <p:txBody>
          <a:bodyPr wrap="square" anchor="t" lIns="0" rIns="0" tIns="0" bIns="0">
            <a:spAutoFit/>
          </a:bodyPr>
          <a:lstStyle/>
          <a:p>
            <a:pPr algn="l">
              <a:spcAft>
                <a:spcPts val="400"/>
              </a:spcAft>
            </a:pPr>
            <a:r>
              <a:rPr sz="1300" b="0" i="0">
                <a:solidFill>
                  <a:srgbClr val="F5A524"/>
                </a:solidFill>
                <a:latin typeface="Courier New"/>
              </a:rPr>
              <a:t>collect_data.py</a:t>
            </a:r>
          </a:p>
        </p:txBody>
      </p:sp>
      <p:sp>
        <p:nvSpPr>
          <p:cNvPr id="8" name="TextBox 7"/>
          <p:cNvSpPr txBox="1"/>
          <p:nvPr/>
        </p:nvSpPr>
        <p:spPr>
          <a:xfrm>
            <a:off x="822959" y="274320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50 random episodes give 10,000 (s, a, s′, r) transitions, saved as .npz</a:t>
            </a:r>
          </a:p>
        </p:txBody>
      </p:sp>
      <p:sp>
        <p:nvSpPr>
          <p:cNvPr id="9" name="Rounded Rectangle 8"/>
          <p:cNvSpPr/>
          <p:nvPr/>
        </p:nvSpPr>
        <p:spPr>
          <a:xfrm>
            <a:off x="4297679" y="155448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1999" y="1828800"/>
            <a:ext cx="457200" cy="45720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2</a:t>
            </a:r>
          </a:p>
        </p:txBody>
      </p:sp>
      <p:sp>
        <p:nvSpPr>
          <p:cNvPr id="11" name="TextBox 10"/>
          <p:cNvSpPr txBox="1"/>
          <p:nvPr/>
        </p:nvSpPr>
        <p:spPr>
          <a:xfrm>
            <a:off x="5212079" y="182880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Train world model</a:t>
            </a:r>
          </a:p>
        </p:txBody>
      </p:sp>
      <p:sp>
        <p:nvSpPr>
          <p:cNvPr id="12" name="TextBox 11"/>
          <p:cNvSpPr txBox="1"/>
          <p:nvPr/>
        </p:nvSpPr>
        <p:spPr>
          <a:xfrm>
            <a:off x="4571999" y="2423160"/>
            <a:ext cx="3017520" cy="274320"/>
          </a:xfrm>
          <a:prstGeom prst="rect">
            <a:avLst/>
          </a:prstGeom>
          <a:noFill/>
        </p:spPr>
        <p:txBody>
          <a:bodyPr wrap="square" anchor="t" lIns="0" rIns="0" tIns="0" bIns="0">
            <a:spAutoFit/>
          </a:bodyPr>
          <a:lstStyle/>
          <a:p>
            <a:pPr algn="l">
              <a:spcAft>
                <a:spcPts val="400"/>
              </a:spcAft>
            </a:pPr>
            <a:r>
              <a:rPr sz="1300" b="0" i="0">
                <a:solidFill>
                  <a:srgbClr val="F5A524"/>
                </a:solidFill>
                <a:latin typeface="Courier New"/>
              </a:rPr>
              <a:t>world_model.py</a:t>
            </a:r>
          </a:p>
        </p:txBody>
      </p:sp>
      <p:sp>
        <p:nvSpPr>
          <p:cNvPr id="13" name="TextBox 12"/>
          <p:cNvSpPr txBox="1"/>
          <p:nvPr/>
        </p:nvSpPr>
        <p:spPr>
          <a:xfrm>
            <a:off x="4571999" y="274320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MLP predicts Δs = s′ − s from normalised (s, a)</a:t>
            </a:r>
          </a:p>
        </p:txBody>
      </p:sp>
      <p:sp>
        <p:nvSpPr>
          <p:cNvPr id="14" name="Rounded Rectangle 13"/>
          <p:cNvSpPr/>
          <p:nvPr/>
        </p:nvSpPr>
        <p:spPr>
          <a:xfrm>
            <a:off x="8046719" y="155448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828800"/>
            <a:ext cx="457200" cy="45720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3</a:t>
            </a:r>
          </a:p>
        </p:txBody>
      </p:sp>
      <p:sp>
        <p:nvSpPr>
          <p:cNvPr id="16" name="TextBox 15"/>
          <p:cNvSpPr txBox="1"/>
          <p:nvPr/>
        </p:nvSpPr>
        <p:spPr>
          <a:xfrm>
            <a:off x="8961119" y="182880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Test compounding error</a:t>
            </a:r>
          </a:p>
        </p:txBody>
      </p:sp>
      <p:sp>
        <p:nvSpPr>
          <p:cNvPr id="17" name="TextBox 16"/>
          <p:cNvSpPr txBox="1"/>
          <p:nvPr/>
        </p:nvSpPr>
        <p:spPr>
          <a:xfrm>
            <a:off x="8321040" y="2423160"/>
            <a:ext cx="3017520" cy="274320"/>
          </a:xfrm>
          <a:prstGeom prst="rect">
            <a:avLst/>
          </a:prstGeom>
          <a:noFill/>
        </p:spPr>
        <p:txBody>
          <a:bodyPr wrap="square" anchor="t" lIns="0" rIns="0" tIns="0" bIns="0">
            <a:spAutoFit/>
          </a:bodyPr>
          <a:lstStyle/>
          <a:p>
            <a:pPr algn="l">
              <a:spcAft>
                <a:spcPts val="400"/>
              </a:spcAft>
            </a:pPr>
            <a:r>
              <a:rPr sz="1300" b="0" i="0">
                <a:solidFill>
                  <a:srgbClr val="F5A524"/>
                </a:solidFill>
                <a:latin typeface="Courier New"/>
              </a:rPr>
              <a:t>multi_step_error()</a:t>
            </a:r>
          </a:p>
        </p:txBody>
      </p:sp>
      <p:sp>
        <p:nvSpPr>
          <p:cNvPr id="18" name="TextBox 17"/>
          <p:cNvSpPr txBox="1"/>
          <p:nvPr/>
        </p:nvSpPr>
        <p:spPr>
          <a:xfrm>
            <a:off x="8321040" y="274320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Open-loop rollouts, 1-30 steps, on held-out data</a:t>
            </a:r>
          </a:p>
        </p:txBody>
      </p:sp>
      <p:sp>
        <p:nvSpPr>
          <p:cNvPr id="19" name="Rounded Rectangle 18"/>
          <p:cNvSpPr/>
          <p:nvPr/>
        </p:nvSpPr>
        <p:spPr>
          <a:xfrm>
            <a:off x="548640" y="379476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4069080"/>
            <a:ext cx="457200" cy="45720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4</a:t>
            </a:r>
          </a:p>
        </p:txBody>
      </p:sp>
      <p:sp>
        <p:nvSpPr>
          <p:cNvPr id="21" name="TextBox 20"/>
          <p:cNvSpPr txBox="1"/>
          <p:nvPr/>
        </p:nvSpPr>
        <p:spPr>
          <a:xfrm>
            <a:off x="1463040" y="406908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Mode-2: CEM MPC</a:t>
            </a:r>
          </a:p>
        </p:txBody>
      </p:sp>
      <p:sp>
        <p:nvSpPr>
          <p:cNvPr id="22" name="TextBox 21"/>
          <p:cNvSpPr txBox="1"/>
          <p:nvPr/>
        </p:nvSpPr>
        <p:spPr>
          <a:xfrm>
            <a:off x="822959" y="4663440"/>
            <a:ext cx="3017520" cy="274320"/>
          </a:xfrm>
          <a:prstGeom prst="rect">
            <a:avLst/>
          </a:prstGeom>
          <a:noFill/>
        </p:spPr>
        <p:txBody>
          <a:bodyPr wrap="square" anchor="t" lIns="0" rIns="0" tIns="0" bIns="0">
            <a:spAutoFit/>
          </a:bodyPr>
          <a:lstStyle/>
          <a:p>
            <a:pPr algn="l">
              <a:spcAft>
                <a:spcPts val="400"/>
              </a:spcAft>
            </a:pPr>
            <a:r>
              <a:rPr sz="1300" b="0" i="0">
                <a:solidFill>
                  <a:srgbClr val="F5A524"/>
                </a:solidFill>
                <a:latin typeface="Courier New"/>
              </a:rPr>
              <a:t>planner.py</a:t>
            </a:r>
          </a:p>
        </p:txBody>
      </p:sp>
      <p:sp>
        <p:nvSpPr>
          <p:cNvPr id="23" name="TextBox 22"/>
          <p:cNvSpPr txBox="1"/>
          <p:nvPr/>
        </p:nvSpPr>
        <p:spPr>
          <a:xfrm>
            <a:off x="822959" y="498348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Search 15-step plans in the model, run the first action, replan</a:t>
            </a:r>
          </a:p>
        </p:txBody>
      </p:sp>
      <p:sp>
        <p:nvSpPr>
          <p:cNvPr id="24" name="Rounded Rectangle 23"/>
          <p:cNvSpPr/>
          <p:nvPr/>
        </p:nvSpPr>
        <p:spPr>
          <a:xfrm>
            <a:off x="4297679" y="379476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71999" y="4069080"/>
            <a:ext cx="457200" cy="45720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5</a:t>
            </a:r>
          </a:p>
        </p:txBody>
      </p:sp>
      <p:sp>
        <p:nvSpPr>
          <p:cNvPr id="26" name="TextBox 25"/>
          <p:cNvSpPr txBox="1"/>
          <p:nvPr/>
        </p:nvSpPr>
        <p:spPr>
          <a:xfrm>
            <a:off x="5212079" y="406908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Mode-1: distil</a:t>
            </a:r>
          </a:p>
        </p:txBody>
      </p:sp>
      <p:sp>
        <p:nvSpPr>
          <p:cNvPr id="27" name="TextBox 26"/>
          <p:cNvSpPr txBox="1"/>
          <p:nvPr/>
        </p:nvSpPr>
        <p:spPr>
          <a:xfrm>
            <a:off x="4571999" y="4663440"/>
            <a:ext cx="3017520" cy="274320"/>
          </a:xfrm>
          <a:prstGeom prst="rect">
            <a:avLst/>
          </a:prstGeom>
          <a:noFill/>
        </p:spPr>
        <p:txBody>
          <a:bodyPr wrap="square" anchor="t" lIns="0" rIns="0" tIns="0" bIns="0">
            <a:spAutoFit/>
          </a:bodyPr>
          <a:lstStyle/>
          <a:p>
            <a:pPr algn="l">
              <a:spcAft>
                <a:spcPts val="400"/>
              </a:spcAft>
            </a:pPr>
            <a:r>
              <a:rPr sz="1300" b="0" i="0">
                <a:solidFill>
                  <a:srgbClr val="2DD4BF"/>
                </a:solidFill>
                <a:latin typeface="Courier New"/>
              </a:rPr>
              <a:t>policy.py</a:t>
            </a:r>
          </a:p>
        </p:txBody>
      </p:sp>
      <p:sp>
        <p:nvSpPr>
          <p:cNvPr id="28" name="TextBox 27"/>
          <p:cNvSpPr txBox="1"/>
          <p:nvPr/>
        </p:nvSpPr>
        <p:spPr>
          <a:xfrm>
            <a:off x="4571999" y="498348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Behaviour cloning, then 4 DAgger iterations</a:t>
            </a:r>
          </a:p>
        </p:txBody>
      </p:sp>
      <p:sp>
        <p:nvSpPr>
          <p:cNvPr id="29" name="Rounded Rectangle 28"/>
          <p:cNvSpPr/>
          <p:nvPr/>
        </p:nvSpPr>
        <p:spPr>
          <a:xfrm>
            <a:off x="8046719" y="3794760"/>
            <a:ext cx="3474720" cy="201168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40" y="4069080"/>
            <a:ext cx="457200" cy="45720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6</a:t>
            </a:r>
          </a:p>
        </p:txBody>
      </p:sp>
      <p:sp>
        <p:nvSpPr>
          <p:cNvPr id="31" name="TextBox 30"/>
          <p:cNvSpPr txBox="1"/>
          <p:nvPr/>
        </p:nvSpPr>
        <p:spPr>
          <a:xfrm>
            <a:off x="8961119" y="4069080"/>
            <a:ext cx="2377440" cy="457200"/>
          </a:xfrm>
          <a:prstGeom prst="rect">
            <a:avLst/>
          </a:prstGeom>
          <a:noFill/>
        </p:spPr>
        <p:txBody>
          <a:bodyPr wrap="square" anchor="ctr" lIns="0" rIns="0" tIns="0" bIns="0">
            <a:spAutoFit/>
          </a:bodyPr>
          <a:lstStyle/>
          <a:p>
            <a:pPr algn="l">
              <a:spcAft>
                <a:spcPts val="400"/>
              </a:spcAft>
            </a:pPr>
            <a:r>
              <a:rPr sz="1800" b="1" i="0">
                <a:solidFill>
                  <a:srgbClr val="F2F5FA"/>
                </a:solidFill>
                <a:latin typeface="Calibri"/>
              </a:rPr>
              <a:t>Evaluate and plot</a:t>
            </a:r>
          </a:p>
        </p:txBody>
      </p:sp>
      <p:sp>
        <p:nvSpPr>
          <p:cNvPr id="32" name="TextBox 31"/>
          <p:cNvSpPr txBox="1"/>
          <p:nvPr/>
        </p:nvSpPr>
        <p:spPr>
          <a:xfrm>
            <a:off x="8321040" y="4663440"/>
            <a:ext cx="3017520" cy="274320"/>
          </a:xfrm>
          <a:prstGeom prst="rect">
            <a:avLst/>
          </a:prstGeom>
          <a:noFill/>
        </p:spPr>
        <p:txBody>
          <a:bodyPr wrap="square" anchor="t" lIns="0" rIns="0" tIns="0" bIns="0">
            <a:spAutoFit/>
          </a:bodyPr>
          <a:lstStyle/>
          <a:p>
            <a:pPr algn="l">
              <a:spcAft>
                <a:spcPts val="400"/>
              </a:spcAft>
            </a:pPr>
            <a:r>
              <a:rPr sz="1300" b="0" i="0">
                <a:solidFill>
                  <a:srgbClr val="2DD4BF"/>
                </a:solidFill>
                <a:latin typeface="Courier New"/>
              </a:rPr>
              <a:t>evaluate.py · plots.py</a:t>
            </a:r>
          </a:p>
        </p:txBody>
      </p:sp>
      <p:sp>
        <p:nvSpPr>
          <p:cNvPr id="33" name="TextBox 32"/>
          <p:cNvSpPr txBox="1"/>
          <p:nvPr/>
        </p:nvSpPr>
        <p:spPr>
          <a:xfrm>
            <a:off x="8321040" y="4983480"/>
            <a:ext cx="30175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4 controllers, 15 episodes, return and ms per decision</a:t>
            </a:r>
          </a:p>
        </p:txBody>
      </p:sp>
      <p:sp>
        <p:nvSpPr>
          <p:cNvPr id="34" name="TextBox 33"/>
          <p:cNvSpPr txBox="1"/>
          <p:nvPr/>
        </p:nvSpPr>
        <p:spPr>
          <a:xfrm>
            <a:off x="548640" y="6035040"/>
            <a:ext cx="11064240" cy="27432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3 seeds · fixed random seeds everywhere · 10.8 min on one CPU thread · all hyperparameters in config.py</a:t>
            </a:r>
          </a:p>
        </p:txBody>
      </p:sp>
      <p:sp>
        <p:nvSpPr>
          <p:cNvPr id="35" name="TextBox 34"/>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36" name="TextBox 35"/>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STAGE 2 · WORLD MODEL</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Learning the physics from 10,000 random transitions</a:t>
            </a:r>
          </a:p>
        </p:txBody>
      </p:sp>
      <p:sp>
        <p:nvSpPr>
          <p:cNvPr id="4" name="Rounded Rectangle 3"/>
          <p:cNvSpPr/>
          <p:nvPr/>
        </p:nvSpPr>
        <p:spPr>
          <a:xfrm>
            <a:off x="548640" y="1508760"/>
            <a:ext cx="6400800" cy="4526280"/>
          </a:xfrm>
          <a:prstGeom prst="roundRect">
            <a:avLst>
              <a:gd name="adj" fmla="val 4000"/>
            </a:avLst>
          </a:prstGeom>
          <a:solidFill>
            <a:srgbClr val="0A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91639"/>
            <a:ext cx="5852160" cy="274320"/>
          </a:xfrm>
          <a:prstGeom prst="rect">
            <a:avLst/>
          </a:prstGeom>
          <a:noFill/>
        </p:spPr>
        <p:txBody>
          <a:bodyPr wrap="square" anchor="t" lIns="0" rIns="0" tIns="0" bIns="0">
            <a:spAutoFit/>
          </a:bodyPr>
          <a:lstStyle/>
          <a:p>
            <a:pPr algn="l">
              <a:spcAft>
                <a:spcPts val="400"/>
              </a:spcAft>
            </a:pPr>
            <a:r>
              <a:rPr sz="1100" b="0" i="0">
                <a:solidFill>
                  <a:srgbClr val="A7B3C9"/>
                </a:solidFill>
                <a:latin typeface="Courier New"/>
              </a:rPr>
              <a:t>world_model.py (simplified)</a:t>
            </a:r>
          </a:p>
        </p:txBody>
      </p:sp>
      <p:sp>
        <p:nvSpPr>
          <p:cNvPr id="6" name="TextBox 5"/>
          <p:cNvSpPr txBox="1"/>
          <p:nvPr/>
        </p:nvSpPr>
        <p:spPr>
          <a:xfrm>
            <a:off x="822959" y="2057400"/>
            <a:ext cx="5852160" cy="3840479"/>
          </a:xfrm>
          <a:prstGeom prst="rect">
            <a:avLst/>
          </a:prstGeom>
          <a:noFill/>
        </p:spPr>
        <p:txBody>
          <a:bodyPr wrap="square" anchor="t" lIns="0" rIns="0" tIns="0" bIns="0">
            <a:spAutoFit/>
          </a:bodyPr>
          <a:lstStyle/>
          <a:p>
            <a:pPr algn="l">
              <a:spcAft>
                <a:spcPts val="100"/>
              </a:spcAft>
            </a:pPr>
            <a:r>
              <a:rPr sz="1400" b="0" i="0">
                <a:solidFill>
                  <a:srgbClr val="DCE3EF"/>
                </a:solidFill>
                <a:latin typeface="Courier New"/>
              </a:rPr>
              <a:t>def predict(self, obs, act):</a:t>
            </a:r>
          </a:p>
          <a:p>
            <a:pPr algn="l">
              <a:spcAft>
                <a:spcPts val="100"/>
              </a:spcAft>
            </a:pPr>
            <a:r>
              <a:rPr sz="1400" b="0" i="0">
                <a:solidFill>
                  <a:srgbClr val="DCE3EF"/>
                </a:solidFill>
                <a:latin typeface="Courier New"/>
              </a:rPr>
              <a:t>    </a:t>
            </a:r>
            <a:r>
              <a:rPr sz="1400" b="0" i="0">
                <a:solidFill>
                  <a:srgbClr val="7C8BA8"/>
                </a:solidFill>
                <a:latin typeface="Courier New"/>
              </a:rPr>
              <a:t># one imagined step: s' = s + f(s, a)</a:t>
            </a:r>
          </a:p>
          <a:p>
            <a:pPr algn="l">
              <a:spcAft>
                <a:spcPts val="100"/>
              </a:spcAft>
            </a:pPr>
            <a:r>
              <a:rPr sz="1400" b="0" i="0">
                <a:solidFill>
                  <a:srgbClr val="DCE3EF"/>
                </a:solidFill>
                <a:latin typeface="Courier New"/>
              </a:rPr>
              <a:t>    x = (cat([obs, act]) - in_mean) / in_std</a:t>
            </a:r>
          </a:p>
          <a:p>
            <a:pPr algn="l">
              <a:spcAft>
                <a:spcPts val="100"/>
              </a:spcAft>
            </a:pPr>
            <a:r>
              <a:rPr sz="1400" b="0" i="0">
                <a:solidFill>
                  <a:srgbClr val="DCE3EF"/>
                </a:solidFill>
                <a:latin typeface="Courier New"/>
              </a:rPr>
              <a:t>    y = self.net(x)          </a:t>
            </a:r>
            <a:r>
              <a:rPr sz="1400" b="0" i="0">
                <a:solidFill>
                  <a:srgbClr val="7C8BA8"/>
                </a:solidFill>
                <a:latin typeface="Courier New"/>
              </a:rPr>
              <a:t># 3 x 128 SiLU MLP</a:t>
            </a:r>
          </a:p>
          <a:p>
            <a:pPr algn="l">
              <a:spcAft>
                <a:spcPts val="100"/>
              </a:spcAft>
            </a:pPr>
            <a:r>
              <a:rPr sz="1400" b="0" i="0">
                <a:solidFill>
                  <a:srgbClr val="DCE3EF"/>
                </a:solidFill>
                <a:latin typeface="Courier New"/>
              </a:rPr>
              <a:t>    delta = y * out_std + out_mean</a:t>
            </a:r>
          </a:p>
          <a:p>
            <a:pPr algn="l">
              <a:spcAft>
                <a:spcPts val="100"/>
              </a:spcAft>
            </a:pPr>
            <a:r>
              <a:rPr sz="1400" b="0" i="0">
                <a:solidFill>
                  <a:srgbClr val="DCE3EF"/>
                </a:solidFill>
                <a:latin typeface="Courier New"/>
              </a:rPr>
              <a:t>    if self.use_symlog:      </a:t>
            </a:r>
            <a:r>
              <a:rPr sz="1400" b="0" i="0">
                <a:solidFill>
                  <a:srgbClr val="7C8BA8"/>
                </a:solidFill>
                <a:latin typeface="Courier New"/>
              </a:rPr>
              <a:t># DreamerV3</a:t>
            </a:r>
          </a:p>
          <a:p>
            <a:pPr algn="l">
              <a:spcAft>
                <a:spcPts val="100"/>
              </a:spcAft>
            </a:pPr>
            <a:r>
              <a:rPr sz="1400" b="0" i="0">
                <a:solidFill>
                  <a:srgbClr val="DCE3EF"/>
                </a:solidFill>
                <a:latin typeface="Courier New"/>
              </a:rPr>
              <a:t>        delta = symexp(delta)</a:t>
            </a:r>
          </a:p>
          <a:p>
            <a:pPr algn="l">
              <a:spcAft>
                <a:spcPts val="100"/>
              </a:spcAft>
            </a:pPr>
            <a:r>
              <a:rPr sz="1400" b="0" i="0">
                <a:solidFill>
                  <a:srgbClr val="DCE3EF"/>
                </a:solidFill>
                <a:latin typeface="Courier New"/>
              </a:rPr>
              <a:t>    nxt = obs + delta</a:t>
            </a:r>
          </a:p>
          <a:p>
            <a:pPr algn="l">
              <a:spcAft>
                <a:spcPts val="100"/>
              </a:spcAft>
            </a:pPr>
            <a:r>
              <a:rPr sz="1400" b="0" i="0">
                <a:solidFill>
                  <a:srgbClr val="DCE3EF"/>
                </a:solidFill>
                <a:latin typeface="Courier New"/>
              </a:rPr>
              <a:t>    cs = unit_circle(nxt[:2])  </a:t>
            </a:r>
            <a:r>
              <a:rPr sz="1400" b="0" i="0">
                <a:solidFill>
                  <a:srgbClr val="7C8BA8"/>
                </a:solidFill>
                <a:latin typeface="Courier New"/>
              </a:rPr>
              <a:t># valid cos/sin</a:t>
            </a:r>
          </a:p>
          <a:p>
            <a:pPr algn="l">
              <a:spcAft>
                <a:spcPts val="100"/>
              </a:spcAft>
            </a:pPr>
            <a:r>
              <a:rPr sz="1400" b="0" i="0">
                <a:solidFill>
                  <a:srgbClr val="DCE3EF"/>
                </a:solidFill>
                <a:latin typeface="Courier New"/>
              </a:rPr>
              <a:t>    thdot = clip(nxt[2], -8, 8)</a:t>
            </a:r>
          </a:p>
          <a:p>
            <a:pPr algn="l">
              <a:spcAft>
                <a:spcPts val="100"/>
              </a:spcAft>
            </a:pPr>
            <a:r>
              <a:rPr sz="1400" b="0" i="0">
                <a:solidFill>
                  <a:srgbClr val="DCE3EF"/>
                </a:solidFill>
                <a:latin typeface="Courier New"/>
              </a:rPr>
              <a:t>    return cat([cs, thdot])</a:t>
            </a:r>
          </a:p>
        </p:txBody>
      </p:sp>
      <p:sp>
        <p:nvSpPr>
          <p:cNvPr id="7" name="TextBox 6"/>
          <p:cNvSpPr txBox="1"/>
          <p:nvPr/>
        </p:nvSpPr>
        <p:spPr>
          <a:xfrm>
            <a:off x="7315200" y="1600200"/>
            <a:ext cx="4297680" cy="2377440"/>
          </a:xfrm>
          <a:prstGeom prst="rect">
            <a:avLst/>
          </a:prstGeom>
          <a:noFill/>
        </p:spPr>
        <p:txBody>
          <a:bodyPr wrap="square" anchor="t" lIns="0" rIns="0" tIns="0" bIns="0">
            <a:spAutoFit/>
          </a:bodyPr>
          <a:lstStyle/>
          <a:p>
            <a:pPr algn="l" marL="256032" indent="-256032">
              <a:spcAft>
                <a:spcPts val="1200"/>
              </a:spcAft>
              <a:buClr>
                <a:srgbClr val="F5A524"/>
              </a:buClr>
              <a:buFont typeface="Arial"/>
              <a:buChar char="•"/>
            </a:pPr>
            <a:r>
              <a:rPr sz="1500" b="0" i="0">
                <a:solidFill>
                  <a:srgbClr val="F2F5FA"/>
                </a:solidFill>
                <a:latin typeface="Calibri"/>
              </a:rPr>
              <a:t>Predicting the change Δs gives a small, zero-centred target</a:t>
            </a:r>
          </a:p>
          <a:p>
            <a:pPr algn="l" marL="256032" indent="-256032">
              <a:spcAft>
                <a:spcPts val="1200"/>
              </a:spcAft>
              <a:buClr>
                <a:srgbClr val="F5A524"/>
              </a:buClr>
              <a:buFont typeface="Arial"/>
              <a:buChar char="•"/>
            </a:pPr>
            <a:r>
              <a:rPr sz="1500" b="0" i="0">
                <a:solidFill>
                  <a:srgbClr val="F2F5FA"/>
                </a:solidFill>
                <a:latin typeface="Calibri"/>
              </a:rPr>
              <a:t>Inputs and targets are standardised; statistics are stored inside the model</a:t>
            </a:r>
          </a:p>
          <a:p>
            <a:pPr algn="l" marL="256032" indent="-256032">
              <a:spcAft>
                <a:spcPts val="1200"/>
              </a:spcAft>
              <a:buClr>
                <a:srgbClr val="F5A524"/>
              </a:buClr>
              <a:buFont typeface="Arial"/>
              <a:buChar char="•"/>
            </a:pPr>
            <a:r>
              <a:rPr sz="1500" b="0" i="0">
                <a:solidFill>
                  <a:srgbClr val="F2F5FA"/>
                </a:solidFill>
                <a:latin typeface="Calibri"/>
              </a:rPr>
              <a:t>Optional --symlog flag: regress symlog(Δs), map back with symexp</a:t>
            </a:r>
          </a:p>
        </p:txBody>
      </p:sp>
      <p:sp>
        <p:nvSpPr>
          <p:cNvPr id="8" name="Rounded Rectangle 7"/>
          <p:cNvSpPr/>
          <p:nvPr/>
        </p:nvSpPr>
        <p:spPr>
          <a:xfrm>
            <a:off x="7315200" y="4206240"/>
            <a:ext cx="4297680" cy="182880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4389120"/>
            <a:ext cx="1920240" cy="685800"/>
          </a:xfrm>
          <a:prstGeom prst="rect">
            <a:avLst/>
          </a:prstGeom>
          <a:noFill/>
        </p:spPr>
        <p:txBody>
          <a:bodyPr wrap="square" anchor="t" lIns="0" rIns="0" tIns="0" bIns="0">
            <a:spAutoFit/>
          </a:bodyPr>
          <a:lstStyle/>
          <a:p>
            <a:pPr algn="l">
              <a:spcAft>
                <a:spcPts val="400"/>
              </a:spcAft>
            </a:pPr>
            <a:r>
              <a:rPr sz="3000" b="1" i="0">
                <a:solidFill>
                  <a:srgbClr val="F5A524"/>
                </a:solidFill>
                <a:latin typeface="Calibri"/>
              </a:rPr>
              <a:t>0.00046</a:t>
            </a:r>
          </a:p>
        </p:txBody>
      </p:sp>
      <p:sp>
        <p:nvSpPr>
          <p:cNvPr id="10" name="TextBox 9"/>
          <p:cNvSpPr txBox="1"/>
          <p:nvPr/>
        </p:nvSpPr>
        <p:spPr>
          <a:xfrm>
            <a:off x="7589520" y="5074920"/>
            <a:ext cx="1920240" cy="45720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train MSE (normalised)</a:t>
            </a:r>
          </a:p>
        </p:txBody>
      </p:sp>
      <p:sp>
        <p:nvSpPr>
          <p:cNvPr id="11" name="TextBox 10"/>
          <p:cNvSpPr txBox="1"/>
          <p:nvPr/>
        </p:nvSpPr>
        <p:spPr>
          <a:xfrm>
            <a:off x="9601200" y="4389120"/>
            <a:ext cx="1920240" cy="685800"/>
          </a:xfrm>
          <a:prstGeom prst="rect">
            <a:avLst/>
          </a:prstGeom>
          <a:noFill/>
        </p:spPr>
        <p:txBody>
          <a:bodyPr wrap="square" anchor="t" lIns="0" rIns="0" tIns="0" bIns="0">
            <a:spAutoFit/>
          </a:bodyPr>
          <a:lstStyle/>
          <a:p>
            <a:pPr algn="l">
              <a:spcAft>
                <a:spcPts val="400"/>
              </a:spcAft>
            </a:pPr>
            <a:r>
              <a:rPr sz="3000" b="1" i="0">
                <a:solidFill>
                  <a:srgbClr val="F5A524"/>
                </a:solidFill>
                <a:latin typeface="Calibri"/>
              </a:rPr>
              <a:t>0.00053</a:t>
            </a:r>
          </a:p>
        </p:txBody>
      </p:sp>
      <p:sp>
        <p:nvSpPr>
          <p:cNvPr id="12" name="TextBox 11"/>
          <p:cNvSpPr txBox="1"/>
          <p:nvPr/>
        </p:nvSpPr>
        <p:spPr>
          <a:xfrm>
            <a:off x="9601200" y="5074920"/>
            <a:ext cx="1920240" cy="45720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validation MSE</a:t>
            </a:r>
          </a:p>
        </p:txBody>
      </p:sp>
      <p:sp>
        <p:nvSpPr>
          <p:cNvPr id="13" name="TextBox 12"/>
          <p:cNvSpPr txBox="1"/>
          <p:nvPr/>
        </p:nvSpPr>
        <p:spPr>
          <a:xfrm>
            <a:off x="7589520" y="5532120"/>
            <a:ext cx="3840480" cy="36576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Seed 0, after 60 epochs: no overfitting</a:t>
            </a:r>
          </a:p>
        </p:txBody>
      </p:sp>
      <p:sp>
        <p:nvSpPr>
          <p:cNvPr id="14" name="TextBox 13"/>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5" name="TextBox 14"/>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STAGE 3 · DIFFUSION WORLD MODEL, FIG. 1.1</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Small one-step errors compound over the horizon</a:t>
            </a:r>
          </a:p>
        </p:txBody>
      </p:sp>
      <p:graphicFrame>
        <p:nvGraphicFramePr>
          <p:cNvPr id="4" name="Chart 3"/>
          <p:cNvGraphicFramePr>
            <a:graphicFrameLocks noGrp="1"/>
          </p:cNvGraphicFramePr>
          <p:nvPr/>
        </p:nvGraphicFramePr>
        <p:xfrm>
          <a:off x="457200" y="1463040"/>
          <a:ext cx="7040880" cy="4663440"/>
        </p:xfrm>
        <a:graphic>
          <a:graphicData uri="http://schemas.openxmlformats.org/drawingml/2006/chart">
            <c:chart xmlns:c="http://schemas.openxmlformats.org/drawingml/2006/chart" r:id="rId2"/>
          </a:graphicData>
        </a:graphic>
      </p:graphicFrame>
      <p:sp>
        <p:nvSpPr>
          <p:cNvPr id="5" name="Rounded Rectangle 4"/>
          <p:cNvSpPr/>
          <p:nvPr/>
        </p:nvSpPr>
        <p:spPr>
          <a:xfrm>
            <a:off x="7863840" y="1508760"/>
            <a:ext cx="3749039" cy="128016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1600200"/>
            <a:ext cx="1463040" cy="1097280"/>
          </a:xfrm>
          <a:prstGeom prst="rect">
            <a:avLst/>
          </a:prstGeom>
          <a:noFill/>
        </p:spPr>
        <p:txBody>
          <a:bodyPr wrap="square" anchor="ctr" lIns="0" rIns="0" tIns="0" bIns="0">
            <a:spAutoFit/>
          </a:bodyPr>
          <a:lstStyle/>
          <a:p>
            <a:pPr algn="l">
              <a:spcAft>
                <a:spcPts val="400"/>
              </a:spcAft>
            </a:pPr>
            <a:r>
              <a:rPr sz="4000" b="1" i="0">
                <a:solidFill>
                  <a:srgbClr val="F5A524"/>
                </a:solidFill>
                <a:latin typeface="Calibri"/>
              </a:rPr>
              <a:t>×12</a:t>
            </a:r>
          </a:p>
        </p:txBody>
      </p:sp>
      <p:sp>
        <p:nvSpPr>
          <p:cNvPr id="7" name="TextBox 6"/>
          <p:cNvSpPr txBox="1"/>
          <p:nvPr/>
        </p:nvSpPr>
        <p:spPr>
          <a:xfrm>
            <a:off x="9601200" y="1600200"/>
            <a:ext cx="1828800" cy="1097280"/>
          </a:xfrm>
          <a:prstGeom prst="rect">
            <a:avLst/>
          </a:prstGeom>
          <a:noFill/>
        </p:spPr>
        <p:txBody>
          <a:bodyPr wrap="square" anchor="ctr" lIns="0" rIns="0" tIns="0" bIns="0">
            <a:spAutoFit/>
          </a:bodyPr>
          <a:lstStyle/>
          <a:p>
            <a:pPr algn="l">
              <a:spcAft>
                <a:spcPts val="400"/>
              </a:spcAft>
            </a:pPr>
            <a:r>
              <a:rPr sz="1400" b="0" i="0">
                <a:solidFill>
                  <a:srgbClr val="A7B3C9"/>
                </a:solidFill>
                <a:latin typeface="Calibri"/>
              </a:rPr>
              <a:t>error after 15 steps vs 1 step</a:t>
            </a:r>
          </a:p>
        </p:txBody>
      </p:sp>
      <p:sp>
        <p:nvSpPr>
          <p:cNvPr id="8" name="Rounded Rectangle 7"/>
          <p:cNvSpPr/>
          <p:nvPr/>
        </p:nvSpPr>
        <p:spPr>
          <a:xfrm>
            <a:off x="7863840" y="2971800"/>
            <a:ext cx="3749039" cy="128016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3063240"/>
            <a:ext cx="1463040" cy="1097280"/>
          </a:xfrm>
          <a:prstGeom prst="rect">
            <a:avLst/>
          </a:prstGeom>
          <a:noFill/>
        </p:spPr>
        <p:txBody>
          <a:bodyPr wrap="square" anchor="ctr" lIns="0" rIns="0" tIns="0" bIns="0">
            <a:spAutoFit/>
          </a:bodyPr>
          <a:lstStyle/>
          <a:p>
            <a:pPr algn="l">
              <a:spcAft>
                <a:spcPts val="400"/>
              </a:spcAft>
            </a:pPr>
            <a:r>
              <a:rPr sz="4000" b="1" i="0">
                <a:solidFill>
                  <a:srgbClr val="F5A524"/>
                </a:solidFill>
                <a:latin typeface="Calibri"/>
              </a:rPr>
              <a:t>×74</a:t>
            </a:r>
          </a:p>
        </p:txBody>
      </p:sp>
      <p:sp>
        <p:nvSpPr>
          <p:cNvPr id="10" name="TextBox 9"/>
          <p:cNvSpPr txBox="1"/>
          <p:nvPr/>
        </p:nvSpPr>
        <p:spPr>
          <a:xfrm>
            <a:off x="9601200" y="3063240"/>
            <a:ext cx="1828800" cy="1097280"/>
          </a:xfrm>
          <a:prstGeom prst="rect">
            <a:avLst/>
          </a:prstGeom>
          <a:noFill/>
        </p:spPr>
        <p:txBody>
          <a:bodyPr wrap="square" anchor="ctr" lIns="0" rIns="0" tIns="0" bIns="0">
            <a:spAutoFit/>
          </a:bodyPr>
          <a:lstStyle/>
          <a:p>
            <a:pPr algn="l">
              <a:spcAft>
                <a:spcPts val="400"/>
              </a:spcAft>
            </a:pPr>
            <a:r>
              <a:rPr sz="1400" b="0" i="0">
                <a:solidFill>
                  <a:srgbClr val="A7B3C9"/>
                </a:solidFill>
                <a:latin typeface="Calibri"/>
              </a:rPr>
              <a:t>error after 30 steps vs 1 step</a:t>
            </a:r>
          </a:p>
        </p:txBody>
      </p:sp>
      <p:sp>
        <p:nvSpPr>
          <p:cNvPr id="11" name="Rounded Rectangle 10"/>
          <p:cNvSpPr/>
          <p:nvPr/>
        </p:nvSpPr>
        <p:spPr>
          <a:xfrm>
            <a:off x="7863840" y="4434840"/>
            <a:ext cx="3749039" cy="169164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4553712"/>
            <a:ext cx="3291840" cy="1508760"/>
          </a:xfrm>
          <a:prstGeom prst="rect">
            <a:avLst/>
          </a:prstGeom>
          <a:noFill/>
        </p:spPr>
        <p:txBody>
          <a:bodyPr wrap="square" anchor="t" lIns="0" rIns="0" tIns="0" bIns="0">
            <a:spAutoFit/>
          </a:bodyPr>
          <a:lstStyle/>
          <a:p>
            <a:pPr algn="l">
              <a:spcAft>
                <a:spcPts val="600"/>
              </a:spcAft>
            </a:pPr>
            <a:r>
              <a:rPr sz="1400" b="0" i="0">
                <a:solidFill>
                  <a:srgbClr val="A7B3C9"/>
                </a:solidFill>
                <a:latin typeface="Calibri"/>
              </a:rPr>
              <a:t>Angle error </a:t>
            </a:r>
            <a:r>
              <a:rPr sz="1400" b="1" i="0">
                <a:solidFill>
                  <a:srgbClr val="F2F5FA"/>
                </a:solidFill>
                <a:latin typeface="Calibri"/>
              </a:rPr>
              <a:t>0.05° → 0.95° → 4.2°</a:t>
            </a:r>
          </a:p>
          <a:p>
            <a:pPr algn="l">
              <a:spcAft>
                <a:spcPts val="600"/>
              </a:spcAft>
            </a:pPr>
            <a:r>
              <a:rPr sz="1400" b="0" i="0">
                <a:solidFill>
                  <a:srgbClr val="A7B3C9"/>
                </a:solidFill>
                <a:latin typeface="Calibri"/>
              </a:rPr>
              <a:t>At H = 15 the model is still within 1°, so MPC plans only that far and replans from real observations (DreamerV3's 15-step imagination).</a:t>
            </a:r>
          </a:p>
        </p:txBody>
      </p:sp>
      <p:sp>
        <p:nvSpPr>
          <p:cNvPr id="13" name="TextBox 12"/>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4" name="TextBox 13"/>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STAGE 4 · MODE-2 = MODEL-PREDICTIVE CONTROL</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The Cross-Entropy Method plans inside the learned model</a:t>
            </a:r>
          </a:p>
        </p:txBody>
      </p:sp>
      <p:sp>
        <p:nvSpPr>
          <p:cNvPr id="4" name="Oval 3"/>
          <p:cNvSpPr/>
          <p:nvPr/>
        </p:nvSpPr>
        <p:spPr>
          <a:xfrm>
            <a:off x="548640" y="1600200"/>
            <a:ext cx="502920" cy="50292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1</a:t>
            </a:r>
          </a:p>
        </p:txBody>
      </p:sp>
      <p:sp>
        <p:nvSpPr>
          <p:cNvPr id="5" name="TextBox 4"/>
          <p:cNvSpPr txBox="1"/>
          <p:nvPr/>
        </p:nvSpPr>
        <p:spPr>
          <a:xfrm>
            <a:off x="1280160" y="1440180"/>
            <a:ext cx="4754880" cy="822960"/>
          </a:xfrm>
          <a:prstGeom prst="rect">
            <a:avLst/>
          </a:prstGeom>
          <a:noFill/>
        </p:spPr>
        <p:txBody>
          <a:bodyPr wrap="square" anchor="ctr" lIns="0" rIns="0" tIns="0" bIns="0">
            <a:spAutoFit/>
          </a:bodyPr>
          <a:lstStyle/>
          <a:p>
            <a:pPr algn="l">
              <a:spcAft>
                <a:spcPts val="400"/>
              </a:spcAft>
            </a:pPr>
            <a:r>
              <a:rPr sz="1600" b="0" i="0">
                <a:solidFill>
                  <a:srgbClr val="F2F5FA"/>
                </a:solidFill>
                <a:latin typeface="Calibri"/>
              </a:rPr>
              <a:t>Sample 300 torque sequences of length 15 from a Gaussian</a:t>
            </a:r>
          </a:p>
        </p:txBody>
      </p:sp>
      <p:sp>
        <p:nvSpPr>
          <p:cNvPr id="6" name="Oval 5"/>
          <p:cNvSpPr/>
          <p:nvPr/>
        </p:nvSpPr>
        <p:spPr>
          <a:xfrm>
            <a:off x="548640" y="2532888"/>
            <a:ext cx="502920" cy="50292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2</a:t>
            </a:r>
          </a:p>
        </p:txBody>
      </p:sp>
      <p:sp>
        <p:nvSpPr>
          <p:cNvPr id="7" name="TextBox 6"/>
          <p:cNvSpPr txBox="1"/>
          <p:nvPr/>
        </p:nvSpPr>
        <p:spPr>
          <a:xfrm>
            <a:off x="1280160" y="2372868"/>
            <a:ext cx="4754880" cy="822960"/>
          </a:xfrm>
          <a:prstGeom prst="rect">
            <a:avLst/>
          </a:prstGeom>
          <a:noFill/>
        </p:spPr>
        <p:txBody>
          <a:bodyPr wrap="square" anchor="ctr" lIns="0" rIns="0" tIns="0" bIns="0">
            <a:spAutoFit/>
          </a:bodyPr>
          <a:lstStyle/>
          <a:p>
            <a:pPr algn="l">
              <a:spcAft>
                <a:spcPts val="400"/>
              </a:spcAft>
            </a:pPr>
            <a:r>
              <a:rPr sz="1600" b="0" i="0">
                <a:solidFill>
                  <a:srgbClr val="F2F5FA"/>
                </a:solidFill>
                <a:latin typeface="Calibri"/>
              </a:rPr>
              <a:t>Roll each one through the world model and add up the imagined cost</a:t>
            </a:r>
          </a:p>
        </p:txBody>
      </p:sp>
      <p:sp>
        <p:nvSpPr>
          <p:cNvPr id="8" name="Oval 7"/>
          <p:cNvSpPr/>
          <p:nvPr/>
        </p:nvSpPr>
        <p:spPr>
          <a:xfrm>
            <a:off x="548640" y="3465576"/>
            <a:ext cx="502920" cy="50292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3</a:t>
            </a:r>
          </a:p>
        </p:txBody>
      </p:sp>
      <p:sp>
        <p:nvSpPr>
          <p:cNvPr id="9" name="TextBox 8"/>
          <p:cNvSpPr txBox="1"/>
          <p:nvPr/>
        </p:nvSpPr>
        <p:spPr>
          <a:xfrm>
            <a:off x="1280160" y="3305556"/>
            <a:ext cx="4754880" cy="822960"/>
          </a:xfrm>
          <a:prstGeom prst="rect">
            <a:avLst/>
          </a:prstGeom>
          <a:noFill/>
        </p:spPr>
        <p:txBody>
          <a:bodyPr wrap="square" anchor="ctr" lIns="0" rIns="0" tIns="0" bIns="0">
            <a:spAutoFit/>
          </a:bodyPr>
          <a:lstStyle/>
          <a:p>
            <a:pPr algn="l">
              <a:spcAft>
                <a:spcPts val="400"/>
              </a:spcAft>
            </a:pPr>
            <a:r>
              <a:rPr sz="1600" b="0" i="0">
                <a:solidFill>
                  <a:srgbClr val="F2F5FA"/>
                </a:solidFill>
                <a:latin typeface="Calibri"/>
              </a:rPr>
              <a:t>Keep the 30 cheapest (elites) and refit the Gaussian; repeat 4×</a:t>
            </a:r>
          </a:p>
        </p:txBody>
      </p:sp>
      <p:sp>
        <p:nvSpPr>
          <p:cNvPr id="10" name="Oval 9"/>
          <p:cNvSpPr/>
          <p:nvPr/>
        </p:nvSpPr>
        <p:spPr>
          <a:xfrm>
            <a:off x="548640" y="4398264"/>
            <a:ext cx="502920" cy="502920"/>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D1424"/>
                </a:solidFill>
                <a:latin typeface="Calibri"/>
              </a:rPr>
              <a:t>4</a:t>
            </a:r>
          </a:p>
        </p:txBody>
      </p:sp>
      <p:sp>
        <p:nvSpPr>
          <p:cNvPr id="11" name="TextBox 10"/>
          <p:cNvSpPr txBox="1"/>
          <p:nvPr/>
        </p:nvSpPr>
        <p:spPr>
          <a:xfrm>
            <a:off x="1280160" y="4238244"/>
            <a:ext cx="4754880" cy="822960"/>
          </a:xfrm>
          <a:prstGeom prst="rect">
            <a:avLst/>
          </a:prstGeom>
          <a:noFill/>
        </p:spPr>
        <p:txBody>
          <a:bodyPr wrap="square" anchor="ctr" lIns="0" rIns="0" tIns="0" bIns="0">
            <a:spAutoFit/>
          </a:bodyPr>
          <a:lstStyle/>
          <a:p>
            <a:pPr algn="l">
              <a:spcAft>
                <a:spcPts val="400"/>
              </a:spcAft>
            </a:pPr>
            <a:r>
              <a:rPr sz="1600" b="0" i="0">
                <a:solidFill>
                  <a:srgbClr val="F2F5FA"/>
                </a:solidFill>
                <a:latin typeface="Calibri"/>
              </a:rPr>
              <a:t>Execute only the first action, then replan from the new real state</a:t>
            </a:r>
          </a:p>
        </p:txBody>
      </p:sp>
      <p:sp>
        <p:nvSpPr>
          <p:cNvPr id="12" name="Rounded Rectangle 11"/>
          <p:cNvSpPr/>
          <p:nvPr/>
        </p:nvSpPr>
        <p:spPr>
          <a:xfrm>
            <a:off x="548640" y="5440680"/>
            <a:ext cx="5486400" cy="68580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40680"/>
            <a:ext cx="5120640" cy="685800"/>
          </a:xfrm>
          <a:prstGeom prst="rect">
            <a:avLst/>
          </a:prstGeom>
          <a:noFill/>
        </p:spPr>
        <p:txBody>
          <a:bodyPr wrap="square" anchor="ctr" lIns="0" rIns="0" tIns="0" bIns="0">
            <a:spAutoFit/>
          </a:bodyPr>
          <a:lstStyle/>
          <a:p>
            <a:pPr algn="l">
              <a:spcAft>
                <a:spcPts val="400"/>
              </a:spcAft>
            </a:pPr>
            <a:r>
              <a:rPr sz="2200" b="1" i="0">
                <a:solidFill>
                  <a:srgbClr val="F5A524"/>
                </a:solidFill>
                <a:latin typeface="Calibri"/>
              </a:rPr>
              <a:t>19,200</a:t>
            </a:r>
            <a:r>
              <a:rPr sz="1500" b="0" i="0">
                <a:solidFill>
                  <a:srgbClr val="A7B3C9"/>
                </a:solidFill>
                <a:latin typeface="Calibri"/>
              </a:rPr>
              <a:t>  imagined model steps per decision</a:t>
            </a:r>
          </a:p>
        </p:txBody>
      </p:sp>
      <p:sp>
        <p:nvSpPr>
          <p:cNvPr id="14" name="Rounded Rectangle 13"/>
          <p:cNvSpPr/>
          <p:nvPr/>
        </p:nvSpPr>
        <p:spPr>
          <a:xfrm>
            <a:off x="6400800" y="1508760"/>
            <a:ext cx="5212080" cy="4617720"/>
          </a:xfrm>
          <a:prstGeom prst="roundRect">
            <a:avLst>
              <a:gd name="adj" fmla="val 4000"/>
            </a:avLst>
          </a:prstGeom>
          <a:solidFill>
            <a:srgbClr val="0A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691639"/>
            <a:ext cx="4663440" cy="274320"/>
          </a:xfrm>
          <a:prstGeom prst="rect">
            <a:avLst/>
          </a:prstGeom>
          <a:noFill/>
        </p:spPr>
        <p:txBody>
          <a:bodyPr wrap="square" anchor="t" lIns="0" rIns="0" tIns="0" bIns="0">
            <a:spAutoFit/>
          </a:bodyPr>
          <a:lstStyle/>
          <a:p>
            <a:pPr algn="l">
              <a:spcAft>
                <a:spcPts val="400"/>
              </a:spcAft>
            </a:pPr>
            <a:r>
              <a:rPr sz="1100" b="0" i="0">
                <a:solidFill>
                  <a:srgbClr val="A7B3C9"/>
                </a:solidFill>
                <a:latin typeface="Courier New"/>
              </a:rPr>
              <a:t>planner.py (simplified)</a:t>
            </a:r>
          </a:p>
        </p:txBody>
      </p:sp>
      <p:sp>
        <p:nvSpPr>
          <p:cNvPr id="16" name="TextBox 15"/>
          <p:cNvSpPr txBox="1"/>
          <p:nvPr/>
        </p:nvSpPr>
        <p:spPr>
          <a:xfrm>
            <a:off x="6675120" y="2057400"/>
            <a:ext cx="4663440" cy="3931919"/>
          </a:xfrm>
          <a:prstGeom prst="rect">
            <a:avLst/>
          </a:prstGeom>
          <a:noFill/>
        </p:spPr>
        <p:txBody>
          <a:bodyPr wrap="square" anchor="t" lIns="0" rIns="0" tIns="0" bIns="0">
            <a:spAutoFit/>
          </a:bodyPr>
          <a:lstStyle/>
          <a:p>
            <a:pPr algn="l">
              <a:spcAft>
                <a:spcPts val="100"/>
              </a:spcAft>
            </a:pPr>
            <a:r>
              <a:rPr sz="1300" b="0" i="0">
                <a:solidFill>
                  <a:srgbClr val="DCE3EF"/>
                </a:solidFill>
                <a:latin typeface="Courier New"/>
              </a:rPr>
              <a:t>def imagined_cost(model, obs, plans):</a:t>
            </a:r>
          </a:p>
          <a:p>
            <a:pPr algn="l">
              <a:spcAft>
                <a:spcPts val="100"/>
              </a:spcAft>
            </a:pPr>
            <a:r>
              <a:rPr sz="1300" b="0" i="0">
                <a:solidFill>
                  <a:srgbClr val="DCE3EF"/>
                </a:solidFill>
                <a:latin typeface="Courier New"/>
              </a:rPr>
              <a:t>    s = obs.expand(N, -1)</a:t>
            </a:r>
          </a:p>
          <a:p>
            <a:pPr algn="l">
              <a:spcAft>
                <a:spcPts val="100"/>
              </a:spcAft>
            </a:pPr>
            <a:r>
              <a:rPr sz="1300" b="0" i="0">
                <a:solidFill>
                  <a:srgbClr val="DCE3EF"/>
                </a:solidFill>
                <a:latin typeface="Courier New"/>
              </a:rPr>
              <a:t>    total = zeros(N)</a:t>
            </a:r>
          </a:p>
          <a:p>
            <a:pPr algn="l">
              <a:spcAft>
                <a:spcPts val="100"/>
              </a:spcAft>
            </a:pPr>
            <a:r>
              <a:rPr sz="1300" b="0" i="0">
                <a:solidFill>
                  <a:srgbClr val="DCE3EF"/>
                </a:solidFill>
                <a:latin typeface="Courier New"/>
              </a:rPr>
              <a:t>    for t in range(H):          </a:t>
            </a:r>
            <a:r>
              <a:rPr sz="1300" b="0" i="0">
                <a:solidFill>
                  <a:srgbClr val="7C8BA8"/>
                </a:solidFill>
                <a:latin typeface="Courier New"/>
              </a:rPr>
              <a:t># H = 15</a:t>
            </a:r>
          </a:p>
          <a:p>
            <a:pPr algn="l">
              <a:spcAft>
                <a:spcPts val="100"/>
              </a:spcAft>
            </a:pPr>
            <a:r>
              <a:rPr sz="1300" b="0" i="0">
                <a:solidFill>
                  <a:srgbClr val="DCE3EF"/>
                </a:solidFill>
                <a:latin typeface="Courier New"/>
              </a:rPr>
              <a:t>        a = plans[:, t:t+1]</a:t>
            </a:r>
          </a:p>
          <a:p>
            <a:pPr algn="l">
              <a:spcAft>
                <a:spcPts val="100"/>
              </a:spcAft>
            </a:pPr>
            <a:r>
              <a:rPr sz="1300" b="0" i="0">
                <a:solidFill>
                  <a:srgbClr val="DCE3EF"/>
                </a:solidFill>
                <a:latin typeface="Courier New"/>
              </a:rPr>
              <a:t>        total += pendulum_cost(s, a)</a:t>
            </a:r>
          </a:p>
          <a:p>
            <a:pPr algn="l">
              <a:spcAft>
                <a:spcPts val="100"/>
              </a:spcAft>
            </a:pPr>
            <a:r>
              <a:rPr sz="1300" b="0" i="0">
                <a:solidFill>
                  <a:srgbClr val="DCE3EF"/>
                </a:solidFill>
                <a:latin typeface="Courier New"/>
              </a:rPr>
              <a:t>        s = model.predict(s, a) </a:t>
            </a:r>
            <a:r>
              <a:rPr sz="1300" b="0" i="0">
                <a:solidFill>
                  <a:srgbClr val="7C8BA8"/>
                </a:solidFill>
                <a:latin typeface="Courier New"/>
              </a:rPr>
              <a:t># imagine</a:t>
            </a:r>
          </a:p>
          <a:p>
            <a:pPr algn="l">
              <a:spcAft>
                <a:spcPts val="100"/>
              </a:spcAft>
            </a:pPr>
            <a:r>
              <a:rPr sz="1300" b="0" i="0">
                <a:solidFill>
                  <a:srgbClr val="DCE3EF"/>
                </a:solidFill>
                <a:latin typeface="Courier New"/>
              </a:rPr>
              <a:t>    return total + pendulum_cost(s, 0)</a:t>
            </a:r>
          </a:p>
          <a:p>
            <a:pPr algn="l">
              <a:spcAft>
                <a:spcPts val="100"/>
              </a:spcAft>
            </a:pPr>
            <a:r>
              <a:rPr sz="1300" b="0" i="0">
                <a:solidFill>
                  <a:srgbClr val="DCE3EF"/>
                </a:solidFill>
                <a:latin typeface="Courier New"/>
              </a:rPr>
              <a:t> </a:t>
            </a:r>
          </a:p>
          <a:p>
            <a:pPr algn="l">
              <a:spcAft>
                <a:spcPts val="100"/>
              </a:spcAft>
            </a:pPr>
            <a:r>
              <a:rPr sz="1300" b="0" i="0">
                <a:solidFill>
                  <a:srgbClr val="DCE3EF"/>
                </a:solidFill>
                <a:latin typeface="Courier New"/>
              </a:rPr>
              <a:t/>
            </a:r>
            <a:r>
              <a:rPr sz="1300" b="0" i="0">
                <a:solidFill>
                  <a:srgbClr val="7C8BA8"/>
                </a:solidFill>
                <a:latin typeface="Courier New"/>
              </a:rPr>
              <a:t># LeCun Mode-2: execute first action,</a:t>
            </a:r>
          </a:p>
          <a:p>
            <a:pPr algn="l">
              <a:spcAft>
                <a:spcPts val="100"/>
              </a:spcAft>
            </a:pPr>
            <a:r>
              <a:rPr sz="1300" b="0" i="0">
                <a:solidFill>
                  <a:srgbClr val="DCE3EF"/>
                </a:solidFill>
                <a:latin typeface="Courier New"/>
              </a:rPr>
              <a:t/>
            </a:r>
            <a:r>
              <a:rPr sz="1300" b="0" i="0">
                <a:solidFill>
                  <a:srgbClr val="7C8BA8"/>
                </a:solidFill>
                <a:latin typeface="Courier New"/>
              </a:rPr>
              <a:t># keep the rest as a warm start</a:t>
            </a:r>
          </a:p>
          <a:p>
            <a:pPr algn="l">
              <a:spcAft>
                <a:spcPts val="100"/>
              </a:spcAft>
            </a:pPr>
            <a:r>
              <a:rPr sz="1300" b="0" i="0">
                <a:solidFill>
                  <a:srgbClr val="DCE3EF"/>
                </a:solidFill>
                <a:latin typeface="Courier New"/>
              </a:rPr>
              <a:t>action = mean[0]</a:t>
            </a:r>
          </a:p>
          <a:p>
            <a:pPr algn="l">
              <a:spcAft>
                <a:spcPts val="100"/>
              </a:spcAft>
            </a:pPr>
            <a:r>
              <a:rPr sz="1300" b="0" i="0">
                <a:solidFill>
                  <a:srgbClr val="DCE3EF"/>
                </a:solidFill>
                <a:latin typeface="Courier New"/>
              </a:rPr>
              <a:t>self.mean = cat([mean[1:], zeros(1)])</a:t>
            </a:r>
          </a:p>
        </p:txBody>
      </p:sp>
      <p:sp>
        <p:nvSpPr>
          <p:cNvPr id="17" name="TextBox 16"/>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8" name="TextBox 17"/>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2DD4BF"/>
                </a:solidFill>
                <a:latin typeface="Calibri"/>
              </a:rPr>
              <a:t>STAGE 5 · MODE-1, LECUN FIG. 5</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DAgger turns the planner into a reflex</a:t>
            </a:r>
          </a:p>
        </p:txBody>
      </p:sp>
      <p:sp>
        <p:nvSpPr>
          <p:cNvPr id="4" name="Oval 3"/>
          <p:cNvSpPr/>
          <p:nvPr/>
        </p:nvSpPr>
        <p:spPr>
          <a:xfrm>
            <a:off x="548640" y="1600200"/>
            <a:ext cx="603504" cy="6035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con play" descr="play.png"/>
          <p:cNvPicPr>
            <a:picLocks noChangeAspect="1"/>
          </p:cNvPicPr>
          <p:nvPr/>
        </p:nvPicPr>
        <p:blipFill>
          <a:blip r:embed="rId2"/>
          <a:stretch>
            <a:fillRect/>
          </a:stretch>
        </p:blipFill>
        <p:spPr>
          <a:xfrm>
            <a:off x="693480" y="1745040"/>
            <a:ext cx="313822" cy="313822"/>
          </a:xfrm>
          <a:prstGeom prst="rect">
            <a:avLst/>
          </a:prstGeom>
        </p:spPr>
      </p:pic>
      <p:sp>
        <p:nvSpPr>
          <p:cNvPr id="6" name="TextBox 5"/>
          <p:cNvSpPr txBox="1"/>
          <p:nvPr/>
        </p:nvSpPr>
        <p:spPr>
          <a:xfrm>
            <a:off x="1371600" y="1554480"/>
            <a:ext cx="3291840" cy="320040"/>
          </a:xfrm>
          <a:prstGeom prst="rect">
            <a:avLst/>
          </a:prstGeom>
          <a:noFill/>
        </p:spPr>
        <p:txBody>
          <a:bodyPr wrap="square" anchor="t" lIns="0" rIns="0" tIns="0" bIns="0">
            <a:spAutoFit/>
          </a:bodyPr>
          <a:lstStyle/>
          <a:p>
            <a:pPr algn="l">
              <a:spcAft>
                <a:spcPts val="400"/>
              </a:spcAft>
            </a:pPr>
            <a:r>
              <a:rPr sz="1700" b="1" i="0">
                <a:solidFill>
                  <a:srgbClr val="F2F5FA"/>
                </a:solidFill>
                <a:latin typeface="Calibri"/>
              </a:rPr>
              <a:t>Behaviour cloning</a:t>
            </a:r>
          </a:p>
        </p:txBody>
      </p:sp>
      <p:sp>
        <p:nvSpPr>
          <p:cNvPr id="7" name="TextBox 6"/>
          <p:cNvSpPr txBox="1"/>
          <p:nvPr/>
        </p:nvSpPr>
        <p:spPr>
          <a:xfrm>
            <a:off x="1371600" y="1901952"/>
            <a:ext cx="329184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Imitate the planner on its own 3 episodes</a:t>
            </a:r>
          </a:p>
        </p:txBody>
      </p:sp>
      <p:sp>
        <p:nvSpPr>
          <p:cNvPr id="8" name="Oval 7"/>
          <p:cNvSpPr/>
          <p:nvPr/>
        </p:nvSpPr>
        <p:spPr>
          <a:xfrm>
            <a:off x="548640" y="2788920"/>
            <a:ext cx="603504" cy="6035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icon sync" descr="sync.png"/>
          <p:cNvPicPr>
            <a:picLocks noChangeAspect="1"/>
          </p:cNvPicPr>
          <p:nvPr/>
        </p:nvPicPr>
        <p:blipFill>
          <a:blip r:embed="rId3"/>
          <a:stretch>
            <a:fillRect/>
          </a:stretch>
        </p:blipFill>
        <p:spPr>
          <a:xfrm>
            <a:off x="693480" y="2933760"/>
            <a:ext cx="313822" cy="313822"/>
          </a:xfrm>
          <a:prstGeom prst="rect">
            <a:avLst/>
          </a:prstGeom>
        </p:spPr>
      </p:pic>
      <p:sp>
        <p:nvSpPr>
          <p:cNvPr id="10" name="TextBox 9"/>
          <p:cNvSpPr txBox="1"/>
          <p:nvPr/>
        </p:nvSpPr>
        <p:spPr>
          <a:xfrm>
            <a:off x="1371600" y="2743200"/>
            <a:ext cx="3291840" cy="320040"/>
          </a:xfrm>
          <a:prstGeom prst="rect">
            <a:avLst/>
          </a:prstGeom>
          <a:noFill/>
        </p:spPr>
        <p:txBody>
          <a:bodyPr wrap="square" anchor="t" lIns="0" rIns="0" tIns="0" bIns="0">
            <a:spAutoFit/>
          </a:bodyPr>
          <a:lstStyle/>
          <a:p>
            <a:pPr algn="l">
              <a:spcAft>
                <a:spcPts val="400"/>
              </a:spcAft>
            </a:pPr>
            <a:r>
              <a:rPr sz="1700" b="1" i="0">
                <a:solidFill>
                  <a:srgbClr val="F2F5FA"/>
                </a:solidFill>
                <a:latin typeface="Calibri"/>
              </a:rPr>
              <a:t>DAgger iteration</a:t>
            </a:r>
          </a:p>
        </p:txBody>
      </p:sp>
      <p:sp>
        <p:nvSpPr>
          <p:cNvPr id="11" name="TextBox 10"/>
          <p:cNvSpPr txBox="1"/>
          <p:nvPr/>
        </p:nvSpPr>
        <p:spPr>
          <a:xfrm>
            <a:off x="1371600" y="3090672"/>
            <a:ext cx="329184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Let the policy drive; the planner labels every state it visits</a:t>
            </a:r>
          </a:p>
        </p:txBody>
      </p:sp>
      <p:sp>
        <p:nvSpPr>
          <p:cNvPr id="12" name="Oval 11"/>
          <p:cNvSpPr/>
          <p:nvPr/>
        </p:nvSpPr>
        <p:spPr>
          <a:xfrm>
            <a:off x="548640" y="3977639"/>
            <a:ext cx="603504" cy="6035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database" descr="database.png"/>
          <p:cNvPicPr>
            <a:picLocks noChangeAspect="1"/>
          </p:cNvPicPr>
          <p:nvPr/>
        </p:nvPicPr>
        <p:blipFill>
          <a:blip r:embed="rId4"/>
          <a:stretch>
            <a:fillRect/>
          </a:stretch>
        </p:blipFill>
        <p:spPr>
          <a:xfrm>
            <a:off x="693480" y="4122480"/>
            <a:ext cx="313822" cy="313822"/>
          </a:xfrm>
          <a:prstGeom prst="rect">
            <a:avLst/>
          </a:prstGeom>
        </p:spPr>
      </p:pic>
      <p:sp>
        <p:nvSpPr>
          <p:cNvPr id="14" name="TextBox 13"/>
          <p:cNvSpPr txBox="1"/>
          <p:nvPr/>
        </p:nvSpPr>
        <p:spPr>
          <a:xfrm>
            <a:off x="1371600" y="3931920"/>
            <a:ext cx="3291840" cy="320040"/>
          </a:xfrm>
          <a:prstGeom prst="rect">
            <a:avLst/>
          </a:prstGeom>
          <a:noFill/>
        </p:spPr>
        <p:txBody>
          <a:bodyPr wrap="square" anchor="t" lIns="0" rIns="0" tIns="0" bIns="0">
            <a:spAutoFit/>
          </a:bodyPr>
          <a:lstStyle/>
          <a:p>
            <a:pPr algn="l">
              <a:spcAft>
                <a:spcPts val="400"/>
              </a:spcAft>
            </a:pPr>
            <a:r>
              <a:rPr sz="1700" b="1" i="0">
                <a:solidFill>
                  <a:srgbClr val="F2F5FA"/>
                </a:solidFill>
                <a:latin typeface="Calibri"/>
              </a:rPr>
              <a:t>Aggregate and retrain</a:t>
            </a:r>
          </a:p>
        </p:txBody>
      </p:sp>
      <p:sp>
        <p:nvSpPr>
          <p:cNvPr id="15" name="TextBox 14"/>
          <p:cNvSpPr txBox="1"/>
          <p:nvPr/>
        </p:nvSpPr>
        <p:spPr>
          <a:xfrm>
            <a:off x="1371600" y="4279392"/>
            <a:ext cx="329184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600 → 3,000 labelled states, including recovery states</a:t>
            </a:r>
          </a:p>
        </p:txBody>
      </p:sp>
      <p:sp>
        <p:nvSpPr>
          <p:cNvPr id="16" name="Rounded Rectangle 15"/>
          <p:cNvSpPr/>
          <p:nvPr/>
        </p:nvSpPr>
        <p:spPr>
          <a:xfrm>
            <a:off x="548640" y="5166360"/>
            <a:ext cx="4114800" cy="960120"/>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166360"/>
            <a:ext cx="3749039" cy="960120"/>
          </a:xfrm>
          <a:prstGeom prst="rect">
            <a:avLst/>
          </a:prstGeom>
          <a:noFill/>
        </p:spPr>
        <p:txBody>
          <a:bodyPr wrap="square" anchor="ctr" lIns="0" rIns="0" tIns="0" bIns="0">
            <a:spAutoFit/>
          </a:bodyPr>
          <a:lstStyle/>
          <a:p>
            <a:pPr algn="l">
              <a:spcAft>
                <a:spcPts val="400"/>
              </a:spcAft>
            </a:pPr>
            <a:r>
              <a:rPr sz="1400" b="0" i="0">
                <a:solidFill>
                  <a:srgbClr val="A7B3C9"/>
                </a:solidFill>
                <a:latin typeface="Calibri"/>
              </a:rPr>
              <a:t>BC alone scored </a:t>
            </a:r>
            <a:r>
              <a:rPr sz="1400" b="1" i="0">
                <a:solidFill>
                  <a:srgbClr val="F87171"/>
                </a:solidFill>
                <a:latin typeface="Calibri"/>
              </a:rPr>
              <a:t>about −1550</a:t>
            </a:r>
            <a:r>
              <a:rPr sz="1400" b="0" i="0">
                <a:solidFill>
                  <a:srgbClr val="A7B3C9"/>
                </a:solidFill>
                <a:latin typeface="Calibri"/>
              </a:rPr>
              <a:t> on 2 of 3 seeds, worse than random. DAgger fixed it.</a:t>
            </a:r>
          </a:p>
        </p:txBody>
      </p:sp>
      <p:graphicFrame>
        <p:nvGraphicFramePr>
          <p:cNvPr id="18" name="Chart 17"/>
          <p:cNvGraphicFramePr>
            <a:graphicFrameLocks noGrp="1"/>
          </p:cNvGraphicFramePr>
          <p:nvPr/>
        </p:nvGraphicFramePr>
        <p:xfrm>
          <a:off x="4937760" y="1463040"/>
          <a:ext cx="6766560" cy="4709160"/>
        </p:xfrm>
        <a:graphic>
          <a:graphicData uri="http://schemas.openxmlformats.org/drawingml/2006/chart">
            <c:chart xmlns:c="http://schemas.openxmlformats.org/drawingml/2006/chart" r:id="rId5"/>
          </a:graphicData>
        </a:graphic>
      </p:graphicFrame>
      <p:sp>
        <p:nvSpPr>
          <p:cNvPr id="19" name="TextBox 18"/>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20" name="TextBox 19"/>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2DD4BF"/>
                </a:solidFill>
                <a:latin typeface="Calibri"/>
              </a:rPr>
              <a:t>STAGE 6 · EVALUATION</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Close to the planner's return at 1/430 of the decision time</a:t>
            </a:r>
          </a:p>
        </p:txBody>
      </p:sp>
      <p:sp>
        <p:nvSpPr>
          <p:cNvPr id="4" name="Rounded Rectangle 3"/>
          <p:cNvSpPr/>
          <p:nvPr/>
        </p:nvSpPr>
        <p:spPr>
          <a:xfrm>
            <a:off x="548640" y="1463040"/>
            <a:ext cx="5394960" cy="402336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00200"/>
            <a:ext cx="4846320" cy="320040"/>
          </a:xfrm>
          <a:prstGeom prst="rect">
            <a:avLst/>
          </a:prstGeom>
          <a:noFill/>
        </p:spPr>
        <p:txBody>
          <a:bodyPr wrap="square" anchor="t" lIns="0" rIns="0" tIns="0" bIns="0">
            <a:spAutoFit/>
          </a:bodyPr>
          <a:lstStyle/>
          <a:p>
            <a:pPr algn="l">
              <a:spcAft>
                <a:spcPts val="400"/>
              </a:spcAft>
            </a:pPr>
            <a:r>
              <a:rPr sz="1400" b="1" i="0">
                <a:solidFill>
                  <a:srgbClr val="F2F5FA"/>
                </a:solidFill>
                <a:latin typeface="Calibri"/>
              </a:rPr>
              <a:t>Return, mean of 15 episodes (higher is better)</a:t>
            </a:r>
          </a:p>
        </p:txBody>
      </p:sp>
      <p:graphicFrame>
        <p:nvGraphicFramePr>
          <p:cNvPr id="6" name="Chart 5"/>
          <p:cNvGraphicFramePr>
            <a:graphicFrameLocks noGrp="1"/>
          </p:cNvGraphicFramePr>
          <p:nvPr/>
        </p:nvGraphicFramePr>
        <p:xfrm>
          <a:off x="685800" y="1965960"/>
          <a:ext cx="5120640" cy="3429000"/>
        </p:xfrm>
        <a:graphic>
          <a:graphicData uri="http://schemas.openxmlformats.org/drawingml/2006/chart">
            <c:chart xmlns:c="http://schemas.openxmlformats.org/drawingml/2006/chart" r:id="rId2"/>
          </a:graphicData>
        </a:graphic>
      </p:graphicFrame>
      <p:sp>
        <p:nvSpPr>
          <p:cNvPr id="7" name="Rounded Rectangle 6"/>
          <p:cNvSpPr/>
          <p:nvPr/>
        </p:nvSpPr>
        <p:spPr>
          <a:xfrm>
            <a:off x="6217920" y="1463040"/>
            <a:ext cx="5394960" cy="402336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00200"/>
            <a:ext cx="4846320" cy="320040"/>
          </a:xfrm>
          <a:prstGeom prst="rect">
            <a:avLst/>
          </a:prstGeom>
          <a:noFill/>
        </p:spPr>
        <p:txBody>
          <a:bodyPr wrap="square" anchor="t" lIns="0" rIns="0" tIns="0" bIns="0">
            <a:spAutoFit/>
          </a:bodyPr>
          <a:lstStyle/>
          <a:p>
            <a:pPr algn="l">
              <a:spcAft>
                <a:spcPts val="400"/>
              </a:spcAft>
            </a:pPr>
            <a:r>
              <a:rPr sz="1400" b="1" i="0">
                <a:solidFill>
                  <a:srgbClr val="F2F5FA"/>
                </a:solidFill>
                <a:latin typeface="Calibri"/>
              </a:rPr>
              <a:t>Milliseconds per decision (lower is faster)</a:t>
            </a:r>
          </a:p>
        </p:txBody>
      </p:sp>
      <p:graphicFrame>
        <p:nvGraphicFramePr>
          <p:cNvPr id="9" name="Chart 8"/>
          <p:cNvGraphicFramePr>
            <a:graphicFrameLocks noGrp="1"/>
          </p:cNvGraphicFramePr>
          <p:nvPr/>
        </p:nvGraphicFramePr>
        <p:xfrm>
          <a:off x="6355080" y="1965960"/>
          <a:ext cx="5120640" cy="3429000"/>
        </p:xfrm>
        <a:graphic>
          <a:graphicData uri="http://schemas.openxmlformats.org/drawingml/2006/chart">
            <c:chart xmlns:c="http://schemas.openxmlformats.org/drawingml/2006/chart" r:id="rId3"/>
          </a:graphicData>
        </a:graphic>
      </p:graphicFrame>
      <p:sp>
        <p:nvSpPr>
          <p:cNvPr id="10" name="TextBox 9"/>
          <p:cNvSpPr txBox="1"/>
          <p:nvPr/>
        </p:nvSpPr>
        <p:spPr>
          <a:xfrm>
            <a:off x="548640" y="5669280"/>
            <a:ext cx="11064240" cy="548640"/>
          </a:xfrm>
          <a:prstGeom prst="rect">
            <a:avLst/>
          </a:prstGeom>
          <a:noFill/>
        </p:spPr>
        <p:txBody>
          <a:bodyPr wrap="square" anchor="t" lIns="0" rIns="0" tIns="0" bIns="0">
            <a:spAutoFit/>
          </a:bodyPr>
          <a:lstStyle/>
          <a:p>
            <a:pPr algn="l">
              <a:spcAft>
                <a:spcPts val="400"/>
              </a:spcAft>
            </a:pPr>
            <a:r>
              <a:rPr sz="1300" b="1" i="0">
                <a:solidFill>
                  <a:srgbClr val="F2F5FA"/>
                </a:solidFill>
                <a:latin typeface="Calibri"/>
              </a:rPr>
              <a:t>± std: </a:t>
            </a:r>
            <a:r>
              <a:rPr sz="1300" b="0" i="0">
                <a:solidFill>
                  <a:srgbClr val="A7B3C9"/>
                </a:solidFill>
                <a:latin typeface="Calibri"/>
              </a:rPr>
              <a:t>Random 259  Rand. shoot 96  CEM MPC 50  Distilled 75</a:t>
            </a:r>
            <a:r>
              <a:rPr sz="1300" b="0" i="0">
                <a:solidFill>
                  <a:srgbClr val="A7B3C9"/>
                </a:solidFill>
                <a:latin typeface="Calibri"/>
              </a:rPr>
              <a:t>    ·    random-shooting gets the same 1,200-plan budget as CEM</a:t>
            </a:r>
          </a:p>
        </p:txBody>
      </p:sp>
      <p:sp>
        <p:nvSpPr>
          <p:cNvPr id="11" name="TextBox 10"/>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2" name="TextBox 11"/>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2DD4BF"/>
                </a:solidFill>
                <a:latin typeface="Calibri"/>
              </a:rPr>
              <a:t>SEEING IT</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Swing-up from hanging down, seed-0 controllers</a:t>
            </a:r>
          </a:p>
        </p:txBody>
      </p:sp>
      <p:sp>
        <p:nvSpPr>
          <p:cNvPr id="4" name="Rounded Rectangle 3"/>
          <p:cNvSpPr/>
          <p:nvPr/>
        </p:nvSpPr>
        <p:spPr>
          <a:xfrm>
            <a:off x="548640" y="1463040"/>
            <a:ext cx="11064240" cy="107899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27632"/>
            <a:ext cx="2194560" cy="365760"/>
          </a:xfrm>
          <a:prstGeom prst="rect">
            <a:avLst/>
          </a:prstGeom>
          <a:noFill/>
        </p:spPr>
        <p:txBody>
          <a:bodyPr wrap="square" anchor="t" lIns="0" rIns="0" tIns="0" bIns="0">
            <a:spAutoFit/>
          </a:bodyPr>
          <a:lstStyle/>
          <a:p>
            <a:pPr algn="l">
              <a:spcAft>
                <a:spcPts val="400"/>
              </a:spcAft>
            </a:pPr>
            <a:r>
              <a:rPr sz="1500" b="1" i="0">
                <a:solidFill>
                  <a:srgbClr val="8A94A8"/>
                </a:solidFill>
                <a:latin typeface="Calibri"/>
              </a:rPr>
              <a:t>Random</a:t>
            </a:r>
          </a:p>
        </p:txBody>
      </p:sp>
      <p:sp>
        <p:nvSpPr>
          <p:cNvPr id="6" name="TextBox 5"/>
          <p:cNvSpPr txBox="1"/>
          <p:nvPr/>
        </p:nvSpPr>
        <p:spPr>
          <a:xfrm>
            <a:off x="777240" y="2011680"/>
            <a:ext cx="2194560" cy="32004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return −1663</a:t>
            </a:r>
          </a:p>
        </p:txBody>
      </p:sp>
      <p:pic>
        <p:nvPicPr>
          <p:cNvPr id="7" name="Picture 6" descr="random_t000.png"/>
          <p:cNvPicPr>
            <a:picLocks noChangeAspect="1"/>
          </p:cNvPicPr>
          <p:nvPr/>
        </p:nvPicPr>
        <p:blipFill>
          <a:blip r:embed="rId2"/>
          <a:stretch>
            <a:fillRect/>
          </a:stretch>
        </p:blipFill>
        <p:spPr>
          <a:xfrm>
            <a:off x="3017520" y="1527048"/>
            <a:ext cx="950976" cy="950976"/>
          </a:xfrm>
          <a:prstGeom prst="rect">
            <a:avLst/>
          </a:prstGeom>
        </p:spPr>
      </p:pic>
      <p:pic>
        <p:nvPicPr>
          <p:cNvPr id="8" name="Picture 7" descr="random_t024.png"/>
          <p:cNvPicPr>
            <a:picLocks noChangeAspect="1"/>
          </p:cNvPicPr>
          <p:nvPr/>
        </p:nvPicPr>
        <p:blipFill>
          <a:blip r:embed="rId3"/>
          <a:stretch>
            <a:fillRect/>
          </a:stretch>
        </p:blipFill>
        <p:spPr>
          <a:xfrm>
            <a:off x="4087368" y="1527048"/>
            <a:ext cx="950976" cy="950976"/>
          </a:xfrm>
          <a:prstGeom prst="rect">
            <a:avLst/>
          </a:prstGeom>
        </p:spPr>
      </p:pic>
      <p:pic>
        <p:nvPicPr>
          <p:cNvPr id="9" name="Picture 8" descr="random_t048.png"/>
          <p:cNvPicPr>
            <a:picLocks noChangeAspect="1"/>
          </p:cNvPicPr>
          <p:nvPr/>
        </p:nvPicPr>
        <p:blipFill>
          <a:blip r:embed="rId4"/>
          <a:stretch>
            <a:fillRect/>
          </a:stretch>
        </p:blipFill>
        <p:spPr>
          <a:xfrm>
            <a:off x="5157216" y="1527048"/>
            <a:ext cx="950976" cy="950976"/>
          </a:xfrm>
          <a:prstGeom prst="rect">
            <a:avLst/>
          </a:prstGeom>
        </p:spPr>
      </p:pic>
      <p:pic>
        <p:nvPicPr>
          <p:cNvPr id="10" name="Picture 9" descr="random_t072.png"/>
          <p:cNvPicPr>
            <a:picLocks noChangeAspect="1"/>
          </p:cNvPicPr>
          <p:nvPr/>
        </p:nvPicPr>
        <p:blipFill>
          <a:blip r:embed="rId5"/>
          <a:stretch>
            <a:fillRect/>
          </a:stretch>
        </p:blipFill>
        <p:spPr>
          <a:xfrm>
            <a:off x="6227064" y="1527048"/>
            <a:ext cx="950976" cy="950976"/>
          </a:xfrm>
          <a:prstGeom prst="rect">
            <a:avLst/>
          </a:prstGeom>
        </p:spPr>
      </p:pic>
      <p:pic>
        <p:nvPicPr>
          <p:cNvPr id="11" name="Picture 10" descr="random_t096.png"/>
          <p:cNvPicPr>
            <a:picLocks noChangeAspect="1"/>
          </p:cNvPicPr>
          <p:nvPr/>
        </p:nvPicPr>
        <p:blipFill>
          <a:blip r:embed="rId6"/>
          <a:stretch>
            <a:fillRect/>
          </a:stretch>
        </p:blipFill>
        <p:spPr>
          <a:xfrm>
            <a:off x="7296912" y="1527048"/>
            <a:ext cx="950976" cy="950976"/>
          </a:xfrm>
          <a:prstGeom prst="rect">
            <a:avLst/>
          </a:prstGeom>
        </p:spPr>
      </p:pic>
      <p:pic>
        <p:nvPicPr>
          <p:cNvPr id="12" name="Picture 11" descr="random_t124.png"/>
          <p:cNvPicPr>
            <a:picLocks noChangeAspect="1"/>
          </p:cNvPicPr>
          <p:nvPr/>
        </p:nvPicPr>
        <p:blipFill>
          <a:blip r:embed="rId7"/>
          <a:stretch>
            <a:fillRect/>
          </a:stretch>
        </p:blipFill>
        <p:spPr>
          <a:xfrm>
            <a:off x="8366759" y="1527048"/>
            <a:ext cx="950976" cy="950976"/>
          </a:xfrm>
          <a:prstGeom prst="rect">
            <a:avLst/>
          </a:prstGeom>
        </p:spPr>
      </p:pic>
      <p:pic>
        <p:nvPicPr>
          <p:cNvPr id="13" name="Picture 12" descr="random_t160.png"/>
          <p:cNvPicPr>
            <a:picLocks noChangeAspect="1"/>
          </p:cNvPicPr>
          <p:nvPr/>
        </p:nvPicPr>
        <p:blipFill>
          <a:blip r:embed="rId8"/>
          <a:stretch>
            <a:fillRect/>
          </a:stretch>
        </p:blipFill>
        <p:spPr>
          <a:xfrm>
            <a:off x="9436608" y="1527048"/>
            <a:ext cx="950976" cy="950976"/>
          </a:xfrm>
          <a:prstGeom prst="rect">
            <a:avLst/>
          </a:prstGeom>
        </p:spPr>
      </p:pic>
      <p:pic>
        <p:nvPicPr>
          <p:cNvPr id="14" name="Picture 13" descr="random_t198.png"/>
          <p:cNvPicPr>
            <a:picLocks noChangeAspect="1"/>
          </p:cNvPicPr>
          <p:nvPr/>
        </p:nvPicPr>
        <p:blipFill>
          <a:blip r:embed="rId9"/>
          <a:stretch>
            <a:fillRect/>
          </a:stretch>
        </p:blipFill>
        <p:spPr>
          <a:xfrm>
            <a:off x="10506455" y="1527048"/>
            <a:ext cx="950976" cy="950976"/>
          </a:xfrm>
          <a:prstGeom prst="rect">
            <a:avLst/>
          </a:prstGeom>
        </p:spPr>
      </p:pic>
      <p:sp>
        <p:nvSpPr>
          <p:cNvPr id="15" name="Rounded Rectangle 14"/>
          <p:cNvSpPr/>
          <p:nvPr/>
        </p:nvSpPr>
        <p:spPr>
          <a:xfrm>
            <a:off x="548640" y="2651760"/>
            <a:ext cx="11064240" cy="107899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816352"/>
            <a:ext cx="2194560" cy="365760"/>
          </a:xfrm>
          <a:prstGeom prst="rect">
            <a:avLst/>
          </a:prstGeom>
          <a:noFill/>
        </p:spPr>
        <p:txBody>
          <a:bodyPr wrap="square" anchor="t" lIns="0" rIns="0" tIns="0" bIns="0">
            <a:spAutoFit/>
          </a:bodyPr>
          <a:lstStyle/>
          <a:p>
            <a:pPr algn="l">
              <a:spcAft>
                <a:spcPts val="400"/>
              </a:spcAft>
            </a:pPr>
            <a:r>
              <a:rPr sz="1500" b="1" i="0">
                <a:solidFill>
                  <a:srgbClr val="A78BFA"/>
                </a:solidFill>
                <a:latin typeface="Calibri"/>
              </a:rPr>
              <a:t>Random-shooting MPC</a:t>
            </a:r>
          </a:p>
        </p:txBody>
      </p:sp>
      <p:sp>
        <p:nvSpPr>
          <p:cNvPr id="17" name="TextBox 16"/>
          <p:cNvSpPr txBox="1"/>
          <p:nvPr/>
        </p:nvSpPr>
        <p:spPr>
          <a:xfrm>
            <a:off x="777240" y="3200400"/>
            <a:ext cx="2194560" cy="32004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return −496</a:t>
            </a:r>
          </a:p>
        </p:txBody>
      </p:sp>
      <p:pic>
        <p:nvPicPr>
          <p:cNvPr id="18" name="Picture 17" descr="random_t000.png"/>
          <p:cNvPicPr>
            <a:picLocks noChangeAspect="1"/>
          </p:cNvPicPr>
          <p:nvPr/>
        </p:nvPicPr>
        <p:blipFill>
          <a:blip r:embed="rId2"/>
          <a:stretch>
            <a:fillRect/>
          </a:stretch>
        </p:blipFill>
        <p:spPr>
          <a:xfrm>
            <a:off x="3017520" y="2715768"/>
            <a:ext cx="950976" cy="950976"/>
          </a:xfrm>
          <a:prstGeom prst="rect">
            <a:avLst/>
          </a:prstGeom>
        </p:spPr>
      </p:pic>
      <p:pic>
        <p:nvPicPr>
          <p:cNvPr id="19" name="Picture 18" descr="random_shooting_mpc_t024.png"/>
          <p:cNvPicPr>
            <a:picLocks noChangeAspect="1"/>
          </p:cNvPicPr>
          <p:nvPr/>
        </p:nvPicPr>
        <p:blipFill>
          <a:blip r:embed="rId10"/>
          <a:stretch>
            <a:fillRect/>
          </a:stretch>
        </p:blipFill>
        <p:spPr>
          <a:xfrm>
            <a:off x="4087368" y="2715768"/>
            <a:ext cx="950976" cy="950976"/>
          </a:xfrm>
          <a:prstGeom prst="rect">
            <a:avLst/>
          </a:prstGeom>
        </p:spPr>
      </p:pic>
      <p:pic>
        <p:nvPicPr>
          <p:cNvPr id="20" name="Picture 19" descr="random_shooting_mpc_t048.png"/>
          <p:cNvPicPr>
            <a:picLocks noChangeAspect="1"/>
          </p:cNvPicPr>
          <p:nvPr/>
        </p:nvPicPr>
        <p:blipFill>
          <a:blip r:embed="rId11"/>
          <a:stretch>
            <a:fillRect/>
          </a:stretch>
        </p:blipFill>
        <p:spPr>
          <a:xfrm>
            <a:off x="5157216" y="2715768"/>
            <a:ext cx="950976" cy="950976"/>
          </a:xfrm>
          <a:prstGeom prst="rect">
            <a:avLst/>
          </a:prstGeom>
        </p:spPr>
      </p:pic>
      <p:pic>
        <p:nvPicPr>
          <p:cNvPr id="21" name="Picture 20" descr="random_shooting_mpc_t072.png"/>
          <p:cNvPicPr>
            <a:picLocks noChangeAspect="1"/>
          </p:cNvPicPr>
          <p:nvPr/>
        </p:nvPicPr>
        <p:blipFill>
          <a:blip r:embed="rId12"/>
          <a:stretch>
            <a:fillRect/>
          </a:stretch>
        </p:blipFill>
        <p:spPr>
          <a:xfrm>
            <a:off x="6227064" y="2715768"/>
            <a:ext cx="950976" cy="950976"/>
          </a:xfrm>
          <a:prstGeom prst="rect">
            <a:avLst/>
          </a:prstGeom>
        </p:spPr>
      </p:pic>
      <p:pic>
        <p:nvPicPr>
          <p:cNvPr id="22" name="Picture 21" descr="random_shooting_mpc_t096.png"/>
          <p:cNvPicPr>
            <a:picLocks noChangeAspect="1"/>
          </p:cNvPicPr>
          <p:nvPr/>
        </p:nvPicPr>
        <p:blipFill>
          <a:blip r:embed="rId13"/>
          <a:stretch>
            <a:fillRect/>
          </a:stretch>
        </p:blipFill>
        <p:spPr>
          <a:xfrm>
            <a:off x="7296912" y="2715768"/>
            <a:ext cx="950976" cy="950976"/>
          </a:xfrm>
          <a:prstGeom prst="rect">
            <a:avLst/>
          </a:prstGeom>
        </p:spPr>
      </p:pic>
      <p:pic>
        <p:nvPicPr>
          <p:cNvPr id="23" name="Picture 22" descr="random_shooting_mpc_t124.png"/>
          <p:cNvPicPr>
            <a:picLocks noChangeAspect="1"/>
          </p:cNvPicPr>
          <p:nvPr/>
        </p:nvPicPr>
        <p:blipFill>
          <a:blip r:embed="rId14"/>
          <a:stretch>
            <a:fillRect/>
          </a:stretch>
        </p:blipFill>
        <p:spPr>
          <a:xfrm>
            <a:off x="8366759" y="2715768"/>
            <a:ext cx="950976" cy="950976"/>
          </a:xfrm>
          <a:prstGeom prst="rect">
            <a:avLst/>
          </a:prstGeom>
        </p:spPr>
      </p:pic>
      <p:pic>
        <p:nvPicPr>
          <p:cNvPr id="24" name="Picture 23" descr="random_shooting_mpc_t160.png"/>
          <p:cNvPicPr>
            <a:picLocks noChangeAspect="1"/>
          </p:cNvPicPr>
          <p:nvPr/>
        </p:nvPicPr>
        <p:blipFill>
          <a:blip r:embed="rId15"/>
          <a:stretch>
            <a:fillRect/>
          </a:stretch>
        </p:blipFill>
        <p:spPr>
          <a:xfrm>
            <a:off x="9436608" y="2715768"/>
            <a:ext cx="950976" cy="950976"/>
          </a:xfrm>
          <a:prstGeom prst="rect">
            <a:avLst/>
          </a:prstGeom>
        </p:spPr>
      </p:pic>
      <p:pic>
        <p:nvPicPr>
          <p:cNvPr id="25" name="Picture 24" descr="random_shooting_mpc_t198.png"/>
          <p:cNvPicPr>
            <a:picLocks noChangeAspect="1"/>
          </p:cNvPicPr>
          <p:nvPr/>
        </p:nvPicPr>
        <p:blipFill>
          <a:blip r:embed="rId16"/>
          <a:stretch>
            <a:fillRect/>
          </a:stretch>
        </p:blipFill>
        <p:spPr>
          <a:xfrm>
            <a:off x="10506455" y="2715768"/>
            <a:ext cx="950976" cy="950976"/>
          </a:xfrm>
          <a:prstGeom prst="rect">
            <a:avLst/>
          </a:prstGeom>
        </p:spPr>
      </p:pic>
      <p:sp>
        <p:nvSpPr>
          <p:cNvPr id="26" name="Rounded Rectangle 25"/>
          <p:cNvSpPr/>
          <p:nvPr/>
        </p:nvSpPr>
        <p:spPr>
          <a:xfrm>
            <a:off x="548640" y="3840480"/>
            <a:ext cx="11064240" cy="107899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005072"/>
            <a:ext cx="2194560" cy="365760"/>
          </a:xfrm>
          <a:prstGeom prst="rect">
            <a:avLst/>
          </a:prstGeom>
          <a:noFill/>
        </p:spPr>
        <p:txBody>
          <a:bodyPr wrap="square" anchor="t" lIns="0" rIns="0" tIns="0" bIns="0">
            <a:spAutoFit/>
          </a:bodyPr>
          <a:lstStyle/>
          <a:p>
            <a:pPr algn="l">
              <a:spcAft>
                <a:spcPts val="400"/>
              </a:spcAft>
            </a:pPr>
            <a:r>
              <a:rPr sz="1500" b="1" i="0">
                <a:solidFill>
                  <a:srgbClr val="F5A524"/>
                </a:solidFill>
                <a:latin typeface="Calibri"/>
              </a:rPr>
              <a:t>CEM MPC</a:t>
            </a:r>
          </a:p>
        </p:txBody>
      </p:sp>
      <p:sp>
        <p:nvSpPr>
          <p:cNvPr id="28" name="TextBox 27"/>
          <p:cNvSpPr txBox="1"/>
          <p:nvPr/>
        </p:nvSpPr>
        <p:spPr>
          <a:xfrm>
            <a:off x="777240" y="4389120"/>
            <a:ext cx="2194560" cy="32004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return −388</a:t>
            </a:r>
          </a:p>
        </p:txBody>
      </p:sp>
      <p:pic>
        <p:nvPicPr>
          <p:cNvPr id="29" name="Picture 28" descr="random_t000.png"/>
          <p:cNvPicPr>
            <a:picLocks noChangeAspect="1"/>
          </p:cNvPicPr>
          <p:nvPr/>
        </p:nvPicPr>
        <p:blipFill>
          <a:blip r:embed="rId2"/>
          <a:stretch>
            <a:fillRect/>
          </a:stretch>
        </p:blipFill>
        <p:spPr>
          <a:xfrm>
            <a:off x="3017520" y="3904488"/>
            <a:ext cx="950976" cy="950976"/>
          </a:xfrm>
          <a:prstGeom prst="rect">
            <a:avLst/>
          </a:prstGeom>
        </p:spPr>
      </p:pic>
      <p:pic>
        <p:nvPicPr>
          <p:cNvPr id="30" name="Picture 29" descr="cem_mpc_t024.png"/>
          <p:cNvPicPr>
            <a:picLocks noChangeAspect="1"/>
          </p:cNvPicPr>
          <p:nvPr/>
        </p:nvPicPr>
        <p:blipFill>
          <a:blip r:embed="rId17"/>
          <a:stretch>
            <a:fillRect/>
          </a:stretch>
        </p:blipFill>
        <p:spPr>
          <a:xfrm>
            <a:off x="4087368" y="3904488"/>
            <a:ext cx="950976" cy="950976"/>
          </a:xfrm>
          <a:prstGeom prst="rect">
            <a:avLst/>
          </a:prstGeom>
        </p:spPr>
      </p:pic>
      <p:pic>
        <p:nvPicPr>
          <p:cNvPr id="31" name="Picture 30" descr="cem_mpc_t048.png"/>
          <p:cNvPicPr>
            <a:picLocks noChangeAspect="1"/>
          </p:cNvPicPr>
          <p:nvPr/>
        </p:nvPicPr>
        <p:blipFill>
          <a:blip r:embed="rId18"/>
          <a:stretch>
            <a:fillRect/>
          </a:stretch>
        </p:blipFill>
        <p:spPr>
          <a:xfrm>
            <a:off x="5157216" y="3904488"/>
            <a:ext cx="950976" cy="950976"/>
          </a:xfrm>
          <a:prstGeom prst="rect">
            <a:avLst/>
          </a:prstGeom>
        </p:spPr>
      </p:pic>
      <p:pic>
        <p:nvPicPr>
          <p:cNvPr id="32" name="Picture 31" descr="cem_mpc_t072.png"/>
          <p:cNvPicPr>
            <a:picLocks noChangeAspect="1"/>
          </p:cNvPicPr>
          <p:nvPr/>
        </p:nvPicPr>
        <p:blipFill>
          <a:blip r:embed="rId19"/>
          <a:stretch>
            <a:fillRect/>
          </a:stretch>
        </p:blipFill>
        <p:spPr>
          <a:xfrm>
            <a:off x="6227064" y="3904488"/>
            <a:ext cx="950976" cy="950976"/>
          </a:xfrm>
          <a:prstGeom prst="rect">
            <a:avLst/>
          </a:prstGeom>
        </p:spPr>
      </p:pic>
      <p:pic>
        <p:nvPicPr>
          <p:cNvPr id="33" name="Picture 32" descr="cem_mpc_t096.png"/>
          <p:cNvPicPr>
            <a:picLocks noChangeAspect="1"/>
          </p:cNvPicPr>
          <p:nvPr/>
        </p:nvPicPr>
        <p:blipFill>
          <a:blip r:embed="rId20"/>
          <a:stretch>
            <a:fillRect/>
          </a:stretch>
        </p:blipFill>
        <p:spPr>
          <a:xfrm>
            <a:off x="7296912" y="3904488"/>
            <a:ext cx="950976" cy="950976"/>
          </a:xfrm>
          <a:prstGeom prst="rect">
            <a:avLst/>
          </a:prstGeom>
        </p:spPr>
      </p:pic>
      <p:pic>
        <p:nvPicPr>
          <p:cNvPr id="34" name="Picture 33" descr="cem_mpc_t124.png"/>
          <p:cNvPicPr>
            <a:picLocks noChangeAspect="1"/>
          </p:cNvPicPr>
          <p:nvPr/>
        </p:nvPicPr>
        <p:blipFill>
          <a:blip r:embed="rId21"/>
          <a:stretch>
            <a:fillRect/>
          </a:stretch>
        </p:blipFill>
        <p:spPr>
          <a:xfrm>
            <a:off x="8366759" y="3904488"/>
            <a:ext cx="950976" cy="950976"/>
          </a:xfrm>
          <a:prstGeom prst="rect">
            <a:avLst/>
          </a:prstGeom>
        </p:spPr>
      </p:pic>
      <p:pic>
        <p:nvPicPr>
          <p:cNvPr id="35" name="Picture 34" descr="cem_mpc_t160.png"/>
          <p:cNvPicPr>
            <a:picLocks noChangeAspect="1"/>
          </p:cNvPicPr>
          <p:nvPr/>
        </p:nvPicPr>
        <p:blipFill>
          <a:blip r:embed="rId22"/>
          <a:stretch>
            <a:fillRect/>
          </a:stretch>
        </p:blipFill>
        <p:spPr>
          <a:xfrm>
            <a:off x="9436608" y="3904488"/>
            <a:ext cx="950976" cy="950976"/>
          </a:xfrm>
          <a:prstGeom prst="rect">
            <a:avLst/>
          </a:prstGeom>
        </p:spPr>
      </p:pic>
      <p:pic>
        <p:nvPicPr>
          <p:cNvPr id="36" name="Picture 35" descr="cem_mpc_t198.png"/>
          <p:cNvPicPr>
            <a:picLocks noChangeAspect="1"/>
          </p:cNvPicPr>
          <p:nvPr/>
        </p:nvPicPr>
        <p:blipFill>
          <a:blip r:embed="rId23"/>
          <a:stretch>
            <a:fillRect/>
          </a:stretch>
        </p:blipFill>
        <p:spPr>
          <a:xfrm>
            <a:off x="10506455" y="3904488"/>
            <a:ext cx="950976" cy="950976"/>
          </a:xfrm>
          <a:prstGeom prst="rect">
            <a:avLst/>
          </a:prstGeom>
        </p:spPr>
      </p:pic>
      <p:sp>
        <p:nvSpPr>
          <p:cNvPr id="37" name="Rounded Rectangle 36"/>
          <p:cNvSpPr/>
          <p:nvPr/>
        </p:nvSpPr>
        <p:spPr>
          <a:xfrm>
            <a:off x="548640" y="5029200"/>
            <a:ext cx="11064240" cy="107899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193792"/>
            <a:ext cx="2194560" cy="365760"/>
          </a:xfrm>
          <a:prstGeom prst="rect">
            <a:avLst/>
          </a:prstGeom>
          <a:noFill/>
        </p:spPr>
        <p:txBody>
          <a:bodyPr wrap="square" anchor="t" lIns="0" rIns="0" tIns="0" bIns="0">
            <a:spAutoFit/>
          </a:bodyPr>
          <a:lstStyle/>
          <a:p>
            <a:pPr algn="l">
              <a:spcAft>
                <a:spcPts val="400"/>
              </a:spcAft>
            </a:pPr>
            <a:r>
              <a:rPr sz="1500" b="1" i="0">
                <a:solidFill>
                  <a:srgbClr val="2DD4BF"/>
                </a:solidFill>
                <a:latin typeface="Calibri"/>
              </a:rPr>
              <a:t>Distilled policy</a:t>
            </a:r>
          </a:p>
        </p:txBody>
      </p:sp>
      <p:sp>
        <p:nvSpPr>
          <p:cNvPr id="39" name="TextBox 38"/>
          <p:cNvSpPr txBox="1"/>
          <p:nvPr/>
        </p:nvSpPr>
        <p:spPr>
          <a:xfrm>
            <a:off x="777240" y="5577840"/>
            <a:ext cx="2194560" cy="320040"/>
          </a:xfrm>
          <a:prstGeom prst="rect">
            <a:avLst/>
          </a:prstGeom>
          <a:noFill/>
        </p:spPr>
        <p:txBody>
          <a:bodyPr wrap="square" anchor="t" lIns="0" rIns="0" tIns="0" bIns="0">
            <a:spAutoFit/>
          </a:bodyPr>
          <a:lstStyle/>
          <a:p>
            <a:pPr algn="l">
              <a:spcAft>
                <a:spcPts val="400"/>
              </a:spcAft>
            </a:pPr>
            <a:r>
              <a:rPr sz="1300" b="0" i="0">
                <a:solidFill>
                  <a:srgbClr val="A7B3C9"/>
                </a:solidFill>
                <a:latin typeface="Calibri"/>
              </a:rPr>
              <a:t>return −576</a:t>
            </a:r>
          </a:p>
        </p:txBody>
      </p:sp>
      <p:pic>
        <p:nvPicPr>
          <p:cNvPr id="40" name="Picture 39" descr="distilled_policy_t000.png"/>
          <p:cNvPicPr>
            <a:picLocks noChangeAspect="1"/>
          </p:cNvPicPr>
          <p:nvPr/>
        </p:nvPicPr>
        <p:blipFill>
          <a:blip r:embed="rId24"/>
          <a:stretch>
            <a:fillRect/>
          </a:stretch>
        </p:blipFill>
        <p:spPr>
          <a:xfrm>
            <a:off x="3017520" y="5093208"/>
            <a:ext cx="950976" cy="950976"/>
          </a:xfrm>
          <a:prstGeom prst="rect">
            <a:avLst/>
          </a:prstGeom>
        </p:spPr>
      </p:pic>
      <p:pic>
        <p:nvPicPr>
          <p:cNvPr id="41" name="Picture 40" descr="distilled_policy_t024.png"/>
          <p:cNvPicPr>
            <a:picLocks noChangeAspect="1"/>
          </p:cNvPicPr>
          <p:nvPr/>
        </p:nvPicPr>
        <p:blipFill>
          <a:blip r:embed="rId25"/>
          <a:stretch>
            <a:fillRect/>
          </a:stretch>
        </p:blipFill>
        <p:spPr>
          <a:xfrm>
            <a:off x="4087368" y="5093208"/>
            <a:ext cx="950976" cy="950976"/>
          </a:xfrm>
          <a:prstGeom prst="rect">
            <a:avLst/>
          </a:prstGeom>
        </p:spPr>
      </p:pic>
      <p:pic>
        <p:nvPicPr>
          <p:cNvPr id="42" name="Picture 41" descr="distilled_policy_t048.png"/>
          <p:cNvPicPr>
            <a:picLocks noChangeAspect="1"/>
          </p:cNvPicPr>
          <p:nvPr/>
        </p:nvPicPr>
        <p:blipFill>
          <a:blip r:embed="rId26"/>
          <a:stretch>
            <a:fillRect/>
          </a:stretch>
        </p:blipFill>
        <p:spPr>
          <a:xfrm>
            <a:off x="5157216" y="5093208"/>
            <a:ext cx="950976" cy="950976"/>
          </a:xfrm>
          <a:prstGeom prst="rect">
            <a:avLst/>
          </a:prstGeom>
        </p:spPr>
      </p:pic>
      <p:pic>
        <p:nvPicPr>
          <p:cNvPr id="43" name="Picture 42" descr="distilled_policy_t072.png"/>
          <p:cNvPicPr>
            <a:picLocks noChangeAspect="1"/>
          </p:cNvPicPr>
          <p:nvPr/>
        </p:nvPicPr>
        <p:blipFill>
          <a:blip r:embed="rId27"/>
          <a:stretch>
            <a:fillRect/>
          </a:stretch>
        </p:blipFill>
        <p:spPr>
          <a:xfrm>
            <a:off x="6227064" y="5093208"/>
            <a:ext cx="950976" cy="950976"/>
          </a:xfrm>
          <a:prstGeom prst="rect">
            <a:avLst/>
          </a:prstGeom>
        </p:spPr>
      </p:pic>
      <p:pic>
        <p:nvPicPr>
          <p:cNvPr id="44" name="Picture 43" descr="distilled_policy_t096.png"/>
          <p:cNvPicPr>
            <a:picLocks noChangeAspect="1"/>
          </p:cNvPicPr>
          <p:nvPr/>
        </p:nvPicPr>
        <p:blipFill>
          <a:blip r:embed="rId28"/>
          <a:stretch>
            <a:fillRect/>
          </a:stretch>
        </p:blipFill>
        <p:spPr>
          <a:xfrm>
            <a:off x="7296912" y="5093208"/>
            <a:ext cx="950976" cy="950976"/>
          </a:xfrm>
          <a:prstGeom prst="rect">
            <a:avLst/>
          </a:prstGeom>
        </p:spPr>
      </p:pic>
      <p:pic>
        <p:nvPicPr>
          <p:cNvPr id="45" name="Picture 44" descr="distilled_policy_t124.png"/>
          <p:cNvPicPr>
            <a:picLocks noChangeAspect="1"/>
          </p:cNvPicPr>
          <p:nvPr/>
        </p:nvPicPr>
        <p:blipFill>
          <a:blip r:embed="rId29"/>
          <a:stretch>
            <a:fillRect/>
          </a:stretch>
        </p:blipFill>
        <p:spPr>
          <a:xfrm>
            <a:off x="8366759" y="5093208"/>
            <a:ext cx="950976" cy="950976"/>
          </a:xfrm>
          <a:prstGeom prst="rect">
            <a:avLst/>
          </a:prstGeom>
        </p:spPr>
      </p:pic>
      <p:pic>
        <p:nvPicPr>
          <p:cNvPr id="46" name="Picture 45" descr="distilled_policy_t160.png"/>
          <p:cNvPicPr>
            <a:picLocks noChangeAspect="1"/>
          </p:cNvPicPr>
          <p:nvPr/>
        </p:nvPicPr>
        <p:blipFill>
          <a:blip r:embed="rId30"/>
          <a:stretch>
            <a:fillRect/>
          </a:stretch>
        </p:blipFill>
        <p:spPr>
          <a:xfrm>
            <a:off x="9436608" y="5093208"/>
            <a:ext cx="950976" cy="950976"/>
          </a:xfrm>
          <a:prstGeom prst="rect">
            <a:avLst/>
          </a:prstGeom>
        </p:spPr>
      </p:pic>
      <p:pic>
        <p:nvPicPr>
          <p:cNvPr id="47" name="Picture 46" descr="distilled_policy_t160.png"/>
          <p:cNvPicPr>
            <a:picLocks noChangeAspect="1"/>
          </p:cNvPicPr>
          <p:nvPr/>
        </p:nvPicPr>
        <p:blipFill>
          <a:blip r:embed="rId30"/>
          <a:stretch>
            <a:fillRect/>
          </a:stretch>
        </p:blipFill>
        <p:spPr>
          <a:xfrm>
            <a:off x="10506455" y="5093208"/>
            <a:ext cx="950976" cy="950976"/>
          </a:xfrm>
          <a:prstGeom prst="rect">
            <a:avLst/>
          </a:prstGeom>
        </p:spPr>
      </p:pic>
      <p:sp>
        <p:nvSpPr>
          <p:cNvPr id="48" name="TextBox 47"/>
          <p:cNvSpPr txBox="1"/>
          <p:nvPr/>
        </p:nvSpPr>
        <p:spPr>
          <a:xfrm>
            <a:off x="3017520"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0</a:t>
            </a:r>
          </a:p>
        </p:txBody>
      </p:sp>
      <p:sp>
        <p:nvSpPr>
          <p:cNvPr id="49" name="TextBox 48"/>
          <p:cNvSpPr txBox="1"/>
          <p:nvPr/>
        </p:nvSpPr>
        <p:spPr>
          <a:xfrm>
            <a:off x="4087368"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24</a:t>
            </a:r>
          </a:p>
        </p:txBody>
      </p:sp>
      <p:sp>
        <p:nvSpPr>
          <p:cNvPr id="50" name="TextBox 49"/>
          <p:cNvSpPr txBox="1"/>
          <p:nvPr/>
        </p:nvSpPr>
        <p:spPr>
          <a:xfrm>
            <a:off x="5157216"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48</a:t>
            </a:r>
          </a:p>
        </p:txBody>
      </p:sp>
      <p:sp>
        <p:nvSpPr>
          <p:cNvPr id="51" name="TextBox 50"/>
          <p:cNvSpPr txBox="1"/>
          <p:nvPr/>
        </p:nvSpPr>
        <p:spPr>
          <a:xfrm>
            <a:off x="6227064"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72</a:t>
            </a:r>
          </a:p>
        </p:txBody>
      </p:sp>
      <p:sp>
        <p:nvSpPr>
          <p:cNvPr id="52" name="TextBox 51"/>
          <p:cNvSpPr txBox="1"/>
          <p:nvPr/>
        </p:nvSpPr>
        <p:spPr>
          <a:xfrm>
            <a:off x="7296912"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96</a:t>
            </a:r>
          </a:p>
        </p:txBody>
      </p:sp>
      <p:sp>
        <p:nvSpPr>
          <p:cNvPr id="53" name="TextBox 52"/>
          <p:cNvSpPr txBox="1"/>
          <p:nvPr/>
        </p:nvSpPr>
        <p:spPr>
          <a:xfrm>
            <a:off x="8366759"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124</a:t>
            </a:r>
          </a:p>
        </p:txBody>
      </p:sp>
      <p:sp>
        <p:nvSpPr>
          <p:cNvPr id="54" name="TextBox 53"/>
          <p:cNvSpPr txBox="1"/>
          <p:nvPr/>
        </p:nvSpPr>
        <p:spPr>
          <a:xfrm>
            <a:off x="9436608"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160</a:t>
            </a:r>
          </a:p>
        </p:txBody>
      </p:sp>
      <p:sp>
        <p:nvSpPr>
          <p:cNvPr id="55" name="TextBox 54"/>
          <p:cNvSpPr txBox="1"/>
          <p:nvPr/>
        </p:nvSpPr>
        <p:spPr>
          <a:xfrm>
            <a:off x="10506455" y="6236208"/>
            <a:ext cx="950976" cy="182880"/>
          </a:xfrm>
          <a:prstGeom prst="rect">
            <a:avLst/>
          </a:prstGeom>
          <a:noFill/>
        </p:spPr>
        <p:txBody>
          <a:bodyPr wrap="square" anchor="t" lIns="0" rIns="0" tIns="0" bIns="0">
            <a:spAutoFit/>
          </a:bodyPr>
          <a:lstStyle/>
          <a:p>
            <a:pPr algn="ctr">
              <a:spcAft>
                <a:spcPts val="400"/>
              </a:spcAft>
            </a:pPr>
            <a:r>
              <a:rPr sz="1000" b="0" i="0">
                <a:solidFill>
                  <a:srgbClr val="56637D"/>
                </a:solidFill>
                <a:latin typeface="Calibri"/>
              </a:rPr>
              <a:t>t = 198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5A524"/>
                </a:solidFill>
                <a:latin typeface="Calibri"/>
              </a:rPr>
              <a:t>BACK TO THE READINGS</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What the readings claimed, and what my run showed</a:t>
            </a:r>
          </a:p>
        </p:txBody>
      </p:sp>
      <p:sp>
        <p:nvSpPr>
          <p:cNvPr id="4" name="TextBox 3"/>
          <p:cNvSpPr txBox="1"/>
          <p:nvPr/>
        </p:nvSpPr>
        <p:spPr>
          <a:xfrm>
            <a:off x="2514600" y="1463040"/>
            <a:ext cx="4114800" cy="274320"/>
          </a:xfrm>
          <a:prstGeom prst="rect">
            <a:avLst/>
          </a:prstGeom>
          <a:noFill/>
        </p:spPr>
        <p:txBody>
          <a:bodyPr wrap="square" anchor="t" lIns="0" rIns="0" tIns="0" bIns="0">
            <a:spAutoFit/>
          </a:bodyPr>
          <a:lstStyle/>
          <a:p>
            <a:pPr algn="l">
              <a:spcAft>
                <a:spcPts val="400"/>
              </a:spcAft>
            </a:pPr>
            <a:r>
              <a:rPr sz="1200" b="1" i="0">
                <a:solidFill>
                  <a:srgbClr val="A7B3C9"/>
                </a:solidFill>
                <a:latin typeface="Calibri"/>
              </a:rPr>
              <a:t>CLAIM</a:t>
            </a:r>
          </a:p>
        </p:txBody>
      </p:sp>
      <p:sp>
        <p:nvSpPr>
          <p:cNvPr id="5" name="TextBox 4"/>
          <p:cNvSpPr txBox="1"/>
          <p:nvPr/>
        </p:nvSpPr>
        <p:spPr>
          <a:xfrm>
            <a:off x="6903720" y="1463040"/>
            <a:ext cx="4572000" cy="274320"/>
          </a:xfrm>
          <a:prstGeom prst="rect">
            <a:avLst/>
          </a:prstGeom>
          <a:noFill/>
        </p:spPr>
        <p:txBody>
          <a:bodyPr wrap="square" anchor="t" lIns="0" rIns="0" tIns="0" bIns="0">
            <a:spAutoFit/>
          </a:bodyPr>
          <a:lstStyle/>
          <a:p>
            <a:pPr algn="l">
              <a:spcAft>
                <a:spcPts val="400"/>
              </a:spcAft>
            </a:pPr>
            <a:r>
              <a:rPr sz="1200" b="1" i="0">
                <a:solidFill>
                  <a:srgbClr val="A7B3C9"/>
                </a:solidFill>
                <a:latin typeface="Calibri"/>
              </a:rPr>
              <a:t>WHAT I OBSERVED</a:t>
            </a:r>
          </a:p>
        </p:txBody>
      </p:sp>
      <p:sp>
        <p:nvSpPr>
          <p:cNvPr id="6" name="Rounded Rectangle 5"/>
          <p:cNvSpPr/>
          <p:nvPr/>
        </p:nvSpPr>
        <p:spPr>
          <a:xfrm>
            <a:off x="548640" y="1828800"/>
            <a:ext cx="11064240" cy="94183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011680"/>
            <a:ext cx="566928" cy="566928"/>
          </a:xfrm>
          <a:prstGeom prst="ellips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brain" descr="brain.png"/>
          <p:cNvPicPr>
            <a:picLocks noChangeAspect="1"/>
          </p:cNvPicPr>
          <p:nvPr/>
        </p:nvPicPr>
        <p:blipFill>
          <a:blip r:embed="rId2"/>
          <a:stretch>
            <a:fillRect/>
          </a:stretch>
        </p:blipFill>
        <p:spPr>
          <a:xfrm>
            <a:off x="867582" y="2147742"/>
            <a:ext cx="294802" cy="294802"/>
          </a:xfrm>
          <a:prstGeom prst="rect">
            <a:avLst/>
          </a:prstGeom>
        </p:spPr>
      </p:pic>
      <p:sp>
        <p:nvSpPr>
          <p:cNvPr id="9" name="TextBox 8"/>
          <p:cNvSpPr txBox="1"/>
          <p:nvPr/>
        </p:nvSpPr>
        <p:spPr>
          <a:xfrm>
            <a:off x="1463040" y="1828800"/>
            <a:ext cx="1005840" cy="941832"/>
          </a:xfrm>
          <a:prstGeom prst="rect">
            <a:avLst/>
          </a:prstGeom>
          <a:noFill/>
        </p:spPr>
        <p:txBody>
          <a:bodyPr wrap="square" anchor="ctr" lIns="0" rIns="0" tIns="0" bIns="0">
            <a:spAutoFit/>
          </a:bodyPr>
          <a:lstStyle/>
          <a:p>
            <a:pPr algn="l">
              <a:spcAft>
                <a:spcPts val="400"/>
              </a:spcAft>
            </a:pPr>
            <a:r>
              <a:rPr sz="1400" b="1" i="0">
                <a:solidFill>
                  <a:srgbClr val="F2F5FA"/>
                </a:solidFill>
                <a:latin typeface="Calibri"/>
              </a:rPr>
              <a:t>LeCun</a:t>
            </a:r>
          </a:p>
        </p:txBody>
      </p:sp>
      <p:sp>
        <p:nvSpPr>
          <p:cNvPr id="10" name="TextBox 9"/>
          <p:cNvSpPr txBox="1"/>
          <p:nvPr/>
        </p:nvSpPr>
        <p:spPr>
          <a:xfrm>
            <a:off x="2514600" y="1828800"/>
            <a:ext cx="4114800" cy="941832"/>
          </a:xfrm>
          <a:prstGeom prst="rect">
            <a:avLst/>
          </a:prstGeom>
          <a:noFill/>
        </p:spPr>
        <p:txBody>
          <a:bodyPr wrap="square" anchor="ctr" lIns="0" rIns="0" tIns="0" bIns="0">
            <a:spAutoFit/>
          </a:bodyPr>
          <a:lstStyle/>
          <a:p>
            <a:pPr algn="l">
              <a:spcAft>
                <a:spcPts val="400"/>
              </a:spcAft>
            </a:pPr>
            <a:r>
              <a:rPr sz="1400" b="0" i="0">
                <a:solidFill>
                  <a:srgbClr val="F2F5FA"/>
                </a:solidFill>
                <a:latin typeface="Calibri"/>
              </a:rPr>
              <a:t>Mode-2 can be compiled into a fast Mode-1 policy</a:t>
            </a:r>
          </a:p>
        </p:txBody>
      </p:sp>
      <p:sp>
        <p:nvSpPr>
          <p:cNvPr id="11" name="TextBox 10"/>
          <p:cNvSpPr txBox="1"/>
          <p:nvPr/>
        </p:nvSpPr>
        <p:spPr>
          <a:xfrm>
            <a:off x="6903720" y="1828800"/>
            <a:ext cx="4526280" cy="941832"/>
          </a:xfrm>
          <a:prstGeom prst="rect">
            <a:avLst/>
          </a:prstGeom>
          <a:noFill/>
        </p:spPr>
        <p:txBody>
          <a:bodyPr wrap="square" anchor="ctr" lIns="0" rIns="0" tIns="0" bIns="0">
            <a:spAutoFit/>
          </a:bodyPr>
          <a:lstStyle/>
          <a:p>
            <a:pPr algn="l">
              <a:spcAft>
                <a:spcPts val="400"/>
              </a:spcAft>
            </a:pPr>
            <a:r>
              <a:rPr sz="1400" b="1" i="0">
                <a:solidFill>
                  <a:srgbClr val="F5A524"/>
                </a:solidFill>
                <a:latin typeface="Calibri"/>
              </a:rPr>
              <a:t>430× faster, 98% of the planner's gain kept</a:t>
            </a:r>
          </a:p>
        </p:txBody>
      </p:sp>
      <p:sp>
        <p:nvSpPr>
          <p:cNvPr id="12" name="Rounded Rectangle 11"/>
          <p:cNvSpPr/>
          <p:nvPr/>
        </p:nvSpPr>
        <p:spPr>
          <a:xfrm>
            <a:off x="548640" y="2907791"/>
            <a:ext cx="11064240" cy="941832"/>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090672"/>
            <a:ext cx="566928" cy="566928"/>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con layers" descr="layers.png"/>
          <p:cNvPicPr>
            <a:picLocks noChangeAspect="1"/>
          </p:cNvPicPr>
          <p:nvPr/>
        </p:nvPicPr>
        <p:blipFill>
          <a:blip r:embed="rId3"/>
          <a:stretch>
            <a:fillRect/>
          </a:stretch>
        </p:blipFill>
        <p:spPr>
          <a:xfrm>
            <a:off x="867582" y="3226734"/>
            <a:ext cx="294802" cy="294802"/>
          </a:xfrm>
          <a:prstGeom prst="rect">
            <a:avLst/>
          </a:prstGeom>
        </p:spPr>
      </p:pic>
      <p:sp>
        <p:nvSpPr>
          <p:cNvPr id="15" name="TextBox 14"/>
          <p:cNvSpPr txBox="1"/>
          <p:nvPr/>
        </p:nvSpPr>
        <p:spPr>
          <a:xfrm>
            <a:off x="1463040" y="2907791"/>
            <a:ext cx="1005840" cy="941832"/>
          </a:xfrm>
          <a:prstGeom prst="rect">
            <a:avLst/>
          </a:prstGeom>
          <a:noFill/>
        </p:spPr>
        <p:txBody>
          <a:bodyPr wrap="square" anchor="ctr" lIns="0" rIns="0" tIns="0" bIns="0">
            <a:spAutoFit/>
          </a:bodyPr>
          <a:lstStyle/>
          <a:p>
            <a:pPr algn="l">
              <a:spcAft>
                <a:spcPts val="400"/>
              </a:spcAft>
            </a:pPr>
            <a:r>
              <a:rPr sz="1400" b="1" i="0">
                <a:solidFill>
                  <a:srgbClr val="F2F5FA"/>
                </a:solidFill>
                <a:latin typeface="Calibri"/>
              </a:rPr>
              <a:t>Diffusion World Model</a:t>
            </a:r>
          </a:p>
        </p:txBody>
      </p:sp>
      <p:sp>
        <p:nvSpPr>
          <p:cNvPr id="16" name="TextBox 15"/>
          <p:cNvSpPr txBox="1"/>
          <p:nvPr/>
        </p:nvSpPr>
        <p:spPr>
          <a:xfrm>
            <a:off x="2514600" y="2907791"/>
            <a:ext cx="4114800" cy="941832"/>
          </a:xfrm>
          <a:prstGeom prst="rect">
            <a:avLst/>
          </a:prstGeom>
          <a:noFill/>
        </p:spPr>
        <p:txBody>
          <a:bodyPr wrap="square" anchor="ctr" lIns="0" rIns="0" tIns="0" bIns="0">
            <a:spAutoFit/>
          </a:bodyPr>
          <a:lstStyle/>
          <a:p>
            <a:pPr algn="l">
              <a:spcAft>
                <a:spcPts val="400"/>
              </a:spcAft>
            </a:pPr>
            <a:r>
              <a:rPr sz="1400" b="0" i="0">
                <a:solidFill>
                  <a:srgbClr val="F2F5FA"/>
                </a:solidFill>
                <a:latin typeface="Calibri"/>
              </a:rPr>
              <a:t>One-step models compound error; keep imagination in training</a:t>
            </a:r>
          </a:p>
        </p:txBody>
      </p:sp>
      <p:sp>
        <p:nvSpPr>
          <p:cNvPr id="17" name="TextBox 16"/>
          <p:cNvSpPr txBox="1"/>
          <p:nvPr/>
        </p:nvSpPr>
        <p:spPr>
          <a:xfrm>
            <a:off x="6903720" y="2907791"/>
            <a:ext cx="4526280" cy="941832"/>
          </a:xfrm>
          <a:prstGeom prst="rect">
            <a:avLst/>
          </a:prstGeom>
          <a:noFill/>
        </p:spPr>
        <p:txBody>
          <a:bodyPr wrap="square" anchor="ctr" lIns="0" rIns="0" tIns="0" bIns="0">
            <a:spAutoFit/>
          </a:bodyPr>
          <a:lstStyle/>
          <a:p>
            <a:pPr algn="l">
              <a:spcAft>
                <a:spcPts val="400"/>
              </a:spcAft>
            </a:pPr>
            <a:r>
              <a:rPr sz="1400" b="1" i="0">
                <a:solidFill>
                  <a:srgbClr val="A78BFA"/>
                </a:solidFill>
                <a:latin typeface="Calibri"/>
              </a:rPr>
              <a:t>Error ×74 after 30 steps; the deployed policy never touches the model</a:t>
            </a:r>
          </a:p>
        </p:txBody>
      </p:sp>
      <p:sp>
        <p:nvSpPr>
          <p:cNvPr id="18" name="Rounded Rectangle 17"/>
          <p:cNvSpPr/>
          <p:nvPr/>
        </p:nvSpPr>
        <p:spPr>
          <a:xfrm>
            <a:off x="548640" y="3986783"/>
            <a:ext cx="11064240" cy="941832"/>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4169663"/>
            <a:ext cx="566928" cy="566928"/>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icon moon" descr="moon.png"/>
          <p:cNvPicPr>
            <a:picLocks noChangeAspect="1"/>
          </p:cNvPicPr>
          <p:nvPr/>
        </p:nvPicPr>
        <p:blipFill>
          <a:blip r:embed="rId4"/>
          <a:stretch>
            <a:fillRect/>
          </a:stretch>
        </p:blipFill>
        <p:spPr>
          <a:xfrm>
            <a:off x="867582" y="4305726"/>
            <a:ext cx="294802" cy="294802"/>
          </a:xfrm>
          <a:prstGeom prst="rect">
            <a:avLst/>
          </a:prstGeom>
        </p:spPr>
      </p:pic>
      <p:sp>
        <p:nvSpPr>
          <p:cNvPr id="21" name="TextBox 20"/>
          <p:cNvSpPr txBox="1"/>
          <p:nvPr/>
        </p:nvSpPr>
        <p:spPr>
          <a:xfrm>
            <a:off x="1463040" y="3986783"/>
            <a:ext cx="1005840" cy="941832"/>
          </a:xfrm>
          <a:prstGeom prst="rect">
            <a:avLst/>
          </a:prstGeom>
          <a:noFill/>
        </p:spPr>
        <p:txBody>
          <a:bodyPr wrap="square" anchor="ctr" lIns="0" rIns="0" tIns="0" bIns="0">
            <a:spAutoFit/>
          </a:bodyPr>
          <a:lstStyle/>
          <a:p>
            <a:pPr algn="l">
              <a:spcAft>
                <a:spcPts val="400"/>
              </a:spcAft>
            </a:pPr>
            <a:r>
              <a:rPr sz="1400" b="1" i="0">
                <a:solidFill>
                  <a:srgbClr val="F2F5FA"/>
                </a:solidFill>
                <a:latin typeface="Calibri"/>
              </a:rPr>
              <a:t>DreamerV3</a:t>
            </a:r>
          </a:p>
        </p:txBody>
      </p:sp>
      <p:sp>
        <p:nvSpPr>
          <p:cNvPr id="22" name="TextBox 21"/>
          <p:cNvSpPr txBox="1"/>
          <p:nvPr/>
        </p:nvSpPr>
        <p:spPr>
          <a:xfrm>
            <a:off x="2514600" y="3986783"/>
            <a:ext cx="4114800" cy="941832"/>
          </a:xfrm>
          <a:prstGeom prst="rect">
            <a:avLst/>
          </a:prstGeom>
          <a:noFill/>
        </p:spPr>
        <p:txBody>
          <a:bodyPr wrap="square" anchor="ctr" lIns="0" rIns="0" tIns="0" bIns="0">
            <a:spAutoFit/>
          </a:bodyPr>
          <a:lstStyle/>
          <a:p>
            <a:pPr algn="l">
              <a:spcAft>
                <a:spcPts val="400"/>
              </a:spcAft>
            </a:pPr>
            <a:r>
              <a:rPr sz="1400" b="0" i="0">
                <a:solidFill>
                  <a:srgbClr val="F2F5FA"/>
                </a:solidFill>
                <a:latin typeface="Calibri"/>
              </a:rPr>
              <a:t>Short imagined rollouts (15 steps) are enough to learn behaviour</a:t>
            </a:r>
          </a:p>
        </p:txBody>
      </p:sp>
      <p:sp>
        <p:nvSpPr>
          <p:cNvPr id="23" name="TextBox 22"/>
          <p:cNvSpPr txBox="1"/>
          <p:nvPr/>
        </p:nvSpPr>
        <p:spPr>
          <a:xfrm>
            <a:off x="6903720" y="3986783"/>
            <a:ext cx="4526280" cy="941832"/>
          </a:xfrm>
          <a:prstGeom prst="rect">
            <a:avLst/>
          </a:prstGeom>
          <a:noFill/>
        </p:spPr>
        <p:txBody>
          <a:bodyPr wrap="square" anchor="ctr" lIns="0" rIns="0" tIns="0" bIns="0">
            <a:spAutoFit/>
          </a:bodyPr>
          <a:lstStyle/>
          <a:p>
            <a:pPr algn="l">
              <a:spcAft>
                <a:spcPts val="400"/>
              </a:spcAft>
            </a:pPr>
            <a:r>
              <a:rPr sz="1400" b="1" i="0">
                <a:solidFill>
                  <a:srgbClr val="2DD4BF"/>
                </a:solidFill>
                <a:latin typeface="Calibri"/>
              </a:rPr>
              <a:t>Angle error 0.95° at 15 steps, good enough to swing up</a:t>
            </a:r>
          </a:p>
        </p:txBody>
      </p:sp>
      <p:sp>
        <p:nvSpPr>
          <p:cNvPr id="24" name="Rounded Rectangle 23"/>
          <p:cNvSpPr/>
          <p:nvPr/>
        </p:nvSpPr>
        <p:spPr>
          <a:xfrm>
            <a:off x="548640" y="5065776"/>
            <a:ext cx="11064240" cy="941832"/>
          </a:xfrm>
          <a:prstGeom prst="roundRect">
            <a:avLst>
              <a:gd name="adj" fmla="val 6000"/>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5248656"/>
            <a:ext cx="566928" cy="566928"/>
          </a:xfrm>
          <a:prstGeom prst="ellipse">
            <a:avLst/>
          </a:prstGeom>
          <a:solidFill>
            <a:srgbClr val="8A9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icon github" descr="github.png"/>
          <p:cNvPicPr>
            <a:picLocks noChangeAspect="1"/>
          </p:cNvPicPr>
          <p:nvPr/>
        </p:nvPicPr>
        <p:blipFill>
          <a:blip r:embed="rId5"/>
          <a:stretch>
            <a:fillRect/>
          </a:stretch>
        </p:blipFill>
        <p:spPr>
          <a:xfrm>
            <a:off x="867582" y="5384718"/>
            <a:ext cx="294802" cy="294802"/>
          </a:xfrm>
          <a:prstGeom prst="rect">
            <a:avLst/>
          </a:prstGeom>
        </p:spPr>
      </p:pic>
      <p:sp>
        <p:nvSpPr>
          <p:cNvPr id="27" name="TextBox 26"/>
          <p:cNvSpPr txBox="1"/>
          <p:nvPr/>
        </p:nvSpPr>
        <p:spPr>
          <a:xfrm>
            <a:off x="1463040" y="5065776"/>
            <a:ext cx="1005840" cy="941832"/>
          </a:xfrm>
          <a:prstGeom prst="rect">
            <a:avLst/>
          </a:prstGeom>
          <a:noFill/>
        </p:spPr>
        <p:txBody>
          <a:bodyPr wrap="square" anchor="ctr" lIns="0" rIns="0" tIns="0" bIns="0">
            <a:spAutoFit/>
          </a:bodyPr>
          <a:lstStyle/>
          <a:p>
            <a:pPr algn="l">
              <a:spcAft>
                <a:spcPts val="400"/>
              </a:spcAft>
            </a:pPr>
            <a:r>
              <a:rPr sz="1400" b="1" i="0">
                <a:solidFill>
                  <a:srgbClr val="F2F5FA"/>
                </a:solidFill>
                <a:latin typeface="Calibri"/>
              </a:rPr>
              <a:t>DreamerV3 code</a:t>
            </a:r>
          </a:p>
        </p:txBody>
      </p:sp>
      <p:sp>
        <p:nvSpPr>
          <p:cNvPr id="28" name="TextBox 27"/>
          <p:cNvSpPr txBox="1"/>
          <p:nvPr/>
        </p:nvSpPr>
        <p:spPr>
          <a:xfrm>
            <a:off x="2514600" y="5065776"/>
            <a:ext cx="4114800" cy="941832"/>
          </a:xfrm>
          <a:prstGeom prst="rect">
            <a:avLst/>
          </a:prstGeom>
          <a:noFill/>
        </p:spPr>
        <p:txBody>
          <a:bodyPr wrap="square" anchor="ctr" lIns="0" rIns="0" tIns="0" bIns="0">
            <a:spAutoFit/>
          </a:bodyPr>
          <a:lstStyle/>
          <a:p>
            <a:pPr algn="l">
              <a:spcAft>
                <a:spcPts val="400"/>
              </a:spcAft>
            </a:pPr>
            <a:r>
              <a:rPr sz="1400" b="0" i="0">
                <a:solidFill>
                  <a:srgbClr val="F2F5FA"/>
                </a:solidFill>
                <a:latin typeface="Calibri"/>
              </a:rPr>
              <a:t>symlog makes targets robust across domains</a:t>
            </a:r>
          </a:p>
        </p:txBody>
      </p:sp>
      <p:sp>
        <p:nvSpPr>
          <p:cNvPr id="29" name="TextBox 28"/>
          <p:cNvSpPr txBox="1"/>
          <p:nvPr/>
        </p:nvSpPr>
        <p:spPr>
          <a:xfrm>
            <a:off x="6903720" y="5065776"/>
            <a:ext cx="4526280" cy="941832"/>
          </a:xfrm>
          <a:prstGeom prst="rect">
            <a:avLst/>
          </a:prstGeom>
          <a:noFill/>
        </p:spPr>
        <p:txBody>
          <a:bodyPr wrap="square" anchor="ctr" lIns="0" rIns="0" tIns="0" bIns="0">
            <a:spAutoFit/>
          </a:bodyPr>
          <a:lstStyle/>
          <a:p>
            <a:pPr algn="l">
              <a:spcAft>
                <a:spcPts val="400"/>
              </a:spcAft>
            </a:pPr>
            <a:r>
              <a:rPr sz="1400" b="0" i="0">
                <a:solidFill>
                  <a:srgbClr val="A7B3C9"/>
                </a:solidFill>
                <a:latin typeface="Calibri"/>
              </a:rPr>
              <a:t>Slightly worse here: Pendulum's targets are already small (honest negative result)</a:t>
            </a:r>
          </a:p>
        </p:txBody>
      </p:sp>
      <p:sp>
        <p:nvSpPr>
          <p:cNvPr id="30" name="TextBox 29"/>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31" name="TextBox 30"/>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424"/>
        </a:solidFill>
        <a:effectLst/>
      </p:bgPr>
    </p:bg>
    <p:spTree>
      <p:nvGrpSpPr>
        <p:cNvPr id="1" name=""/>
        <p:cNvGrpSpPr/>
        <p:nvPr/>
      </p:nvGrpSpPr>
      <p:grpSpPr/>
      <p:sp>
        <p:nvSpPr>
          <p:cNvPr id="2" name="kicker"/>
          <p:cNvSpPr txBox="1"/>
          <p:nvPr/>
        </p:nvSpPr>
        <p:spPr>
          <a:xfrm>
            <a:off x="548640" y="347472"/>
            <a:ext cx="11064240" cy="274320"/>
          </a:xfrm>
          <a:prstGeom prst="rect">
            <a:avLst/>
          </a:prstGeom>
          <a:noFill/>
        </p:spPr>
        <p:txBody>
          <a:bodyPr wrap="square" anchor="t" lIns="0" rIns="0" tIns="0" bIns="0">
            <a:spAutoFit/>
          </a:bodyPr>
          <a:lstStyle/>
          <a:p>
            <a:pPr algn="l">
              <a:spcAft>
                <a:spcPts val="400"/>
              </a:spcAft>
            </a:pPr>
            <a:r>
              <a:rPr sz="1200" b="1" i="0">
                <a:solidFill>
                  <a:srgbClr val="F87171"/>
                </a:solidFill>
                <a:latin typeface="Calibri"/>
              </a:rPr>
              <a:t>LESSONS AND LIMITATIONS</a:t>
            </a:r>
          </a:p>
        </p:txBody>
      </p:sp>
      <p:sp>
        <p:nvSpPr>
          <p:cNvPr id="3" name="title"/>
          <p:cNvSpPr txBox="1"/>
          <p:nvPr/>
        </p:nvSpPr>
        <p:spPr>
          <a:xfrm>
            <a:off x="548640" y="621792"/>
            <a:ext cx="11064240" cy="685800"/>
          </a:xfrm>
          <a:prstGeom prst="rect">
            <a:avLst/>
          </a:prstGeom>
          <a:noFill/>
        </p:spPr>
        <p:txBody>
          <a:bodyPr wrap="square" anchor="t" lIns="0" rIns="0" tIns="0" bIns="0">
            <a:spAutoFit/>
          </a:bodyPr>
          <a:lstStyle/>
          <a:p>
            <a:pPr algn="l">
              <a:spcAft>
                <a:spcPts val="400"/>
              </a:spcAft>
            </a:pPr>
            <a:r>
              <a:rPr sz="3200" b="1" i="0">
                <a:solidFill>
                  <a:srgbClr val="F2F5FA"/>
                </a:solidFill>
                <a:latin typeface="Calibri"/>
              </a:rPr>
              <a:t>What surprised me, and what this experiment does not show</a:t>
            </a:r>
          </a:p>
        </p:txBody>
      </p:sp>
      <p:sp>
        <p:nvSpPr>
          <p:cNvPr id="4" name="Rounded Rectangle 3"/>
          <p:cNvSpPr/>
          <p:nvPr/>
        </p:nvSpPr>
        <p:spPr>
          <a:xfrm>
            <a:off x="548640" y="1508760"/>
            <a:ext cx="5394960" cy="461772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783080"/>
            <a:ext cx="566928" cy="566928"/>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con flask" descr="flask.png"/>
          <p:cNvPicPr>
            <a:picLocks noChangeAspect="1"/>
          </p:cNvPicPr>
          <p:nvPr/>
        </p:nvPicPr>
        <p:blipFill>
          <a:blip r:embed="rId2"/>
          <a:stretch>
            <a:fillRect/>
          </a:stretch>
        </p:blipFill>
        <p:spPr>
          <a:xfrm>
            <a:off x="959022" y="1919142"/>
            <a:ext cx="294802" cy="294802"/>
          </a:xfrm>
          <a:prstGeom prst="rect">
            <a:avLst/>
          </a:prstGeom>
        </p:spPr>
      </p:pic>
      <p:sp>
        <p:nvSpPr>
          <p:cNvPr id="7" name="TextBox 6"/>
          <p:cNvSpPr txBox="1"/>
          <p:nvPr/>
        </p:nvSpPr>
        <p:spPr>
          <a:xfrm>
            <a:off x="1600200" y="1783080"/>
            <a:ext cx="4114800" cy="566928"/>
          </a:xfrm>
          <a:prstGeom prst="rect">
            <a:avLst/>
          </a:prstGeom>
          <a:noFill/>
        </p:spPr>
        <p:txBody>
          <a:bodyPr wrap="square" anchor="ctr" lIns="0" rIns="0" tIns="0" bIns="0">
            <a:spAutoFit/>
          </a:bodyPr>
          <a:lstStyle/>
          <a:p>
            <a:pPr algn="l">
              <a:spcAft>
                <a:spcPts val="400"/>
              </a:spcAft>
            </a:pPr>
            <a:r>
              <a:rPr sz="2000" b="1" i="0">
                <a:solidFill>
                  <a:srgbClr val="F2F5FA"/>
                </a:solidFill>
                <a:latin typeface="Calibri"/>
              </a:rPr>
              <a:t>Surprises</a:t>
            </a:r>
          </a:p>
        </p:txBody>
      </p:sp>
      <p:sp>
        <p:nvSpPr>
          <p:cNvPr id="8" name="TextBox 7"/>
          <p:cNvSpPr txBox="1"/>
          <p:nvPr/>
        </p:nvSpPr>
        <p:spPr>
          <a:xfrm>
            <a:off x="822960" y="2606040"/>
            <a:ext cx="4846320" cy="3383280"/>
          </a:xfrm>
          <a:prstGeom prst="rect">
            <a:avLst/>
          </a:prstGeom>
          <a:noFill/>
        </p:spPr>
        <p:txBody>
          <a:bodyPr wrap="square" anchor="t" lIns="0" rIns="0" tIns="0" bIns="0">
            <a:spAutoFit/>
          </a:bodyPr>
          <a:lstStyle/>
          <a:p>
            <a:pPr algn="l" marL="256032" indent="-256032">
              <a:spcAft>
                <a:spcPts val="1200"/>
              </a:spcAft>
              <a:buClr>
                <a:srgbClr val="2DD4BF"/>
              </a:buClr>
              <a:buFont typeface="Arial"/>
              <a:buChar char="•"/>
            </a:pPr>
            <a:r>
              <a:rPr sz="1500" b="0" i="0">
                <a:solidFill>
                  <a:srgbClr val="F2F5FA"/>
                </a:solidFill>
                <a:latin typeface="Calibri"/>
              </a:rPr>
              <a:t>Behaviour cloning alone was worse than random: the policy's own mistakes need labels</a:t>
            </a:r>
          </a:p>
          <a:p>
            <a:pPr algn="l" marL="256032" indent="-256032">
              <a:spcAft>
                <a:spcPts val="1200"/>
              </a:spcAft>
              <a:buClr>
                <a:srgbClr val="2DD4BF"/>
              </a:buClr>
              <a:buFont typeface="Arial"/>
              <a:buChar char="•"/>
            </a:pPr>
            <a:r>
              <a:rPr sz="1500" b="0" i="0">
                <a:solidFill>
                  <a:srgbClr val="F2F5FA"/>
                </a:solidFill>
                <a:latin typeface="Calibri"/>
              </a:rPr>
              <a:t>Retraining on CEM data (2 rounds) changed CEM's return by at most 0.1 point</a:t>
            </a:r>
          </a:p>
          <a:p>
            <a:pPr algn="l" marL="256032" indent="-256032">
              <a:spcAft>
                <a:spcPts val="1200"/>
              </a:spcAft>
              <a:buClr>
                <a:srgbClr val="2DD4BF"/>
              </a:buClr>
              <a:buFont typeface="Arial"/>
              <a:buChar char="•"/>
            </a:pPr>
            <a:r>
              <a:rPr sz="1500" b="0" i="0">
                <a:solidFill>
                  <a:srgbClr val="F2F5FA"/>
                </a:solidFill>
                <a:latin typeface="Calibri"/>
              </a:rPr>
              <a:t>symlog targets were slightly worse on this small, well-scaled problem</a:t>
            </a:r>
          </a:p>
          <a:p>
            <a:pPr algn="l" marL="256032" indent="-256032">
              <a:spcAft>
                <a:spcPts val="1200"/>
              </a:spcAft>
              <a:buClr>
                <a:srgbClr val="2DD4BF"/>
              </a:buClr>
              <a:buFont typeface="Arial"/>
              <a:buChar char="•"/>
            </a:pPr>
            <a:r>
              <a:rPr sz="1500" b="0" i="0">
                <a:solidFill>
                  <a:srgbClr val="F2F5FA"/>
                </a:solidFill>
                <a:latin typeface="Calibri"/>
              </a:rPr>
              <a:t>Random shooting with the same budget was close to CEM (−187 vs −155) but less consistent</a:t>
            </a:r>
          </a:p>
        </p:txBody>
      </p:sp>
      <p:sp>
        <p:nvSpPr>
          <p:cNvPr id="9" name="Rounded Rectangle 8"/>
          <p:cNvSpPr/>
          <p:nvPr/>
        </p:nvSpPr>
        <p:spPr>
          <a:xfrm>
            <a:off x="6217920" y="1508760"/>
            <a:ext cx="5394960" cy="4617720"/>
          </a:xfrm>
          <a:prstGeom prst="roundRect">
            <a:avLst>
              <a:gd name="adj" fmla="val 6000"/>
            </a:avLst>
          </a:prstGeom>
          <a:solidFill>
            <a:srgbClr val="17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783080"/>
            <a:ext cx="566928" cy="566928"/>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 warn" descr="warn.png"/>
          <p:cNvPicPr>
            <a:picLocks noChangeAspect="1"/>
          </p:cNvPicPr>
          <p:nvPr/>
        </p:nvPicPr>
        <p:blipFill>
          <a:blip r:embed="rId3"/>
          <a:stretch>
            <a:fillRect/>
          </a:stretch>
        </p:blipFill>
        <p:spPr>
          <a:xfrm>
            <a:off x="6628302" y="1919142"/>
            <a:ext cx="294802" cy="294802"/>
          </a:xfrm>
          <a:prstGeom prst="rect">
            <a:avLst/>
          </a:prstGeom>
        </p:spPr>
      </p:pic>
      <p:sp>
        <p:nvSpPr>
          <p:cNvPr id="12" name="TextBox 11"/>
          <p:cNvSpPr txBox="1"/>
          <p:nvPr/>
        </p:nvSpPr>
        <p:spPr>
          <a:xfrm>
            <a:off x="7269480" y="1783080"/>
            <a:ext cx="4114800" cy="566928"/>
          </a:xfrm>
          <a:prstGeom prst="rect">
            <a:avLst/>
          </a:prstGeom>
          <a:noFill/>
        </p:spPr>
        <p:txBody>
          <a:bodyPr wrap="square" anchor="ctr" lIns="0" rIns="0" tIns="0" bIns="0">
            <a:spAutoFit/>
          </a:bodyPr>
          <a:lstStyle/>
          <a:p>
            <a:pPr algn="l">
              <a:spcAft>
                <a:spcPts val="400"/>
              </a:spcAft>
            </a:pPr>
            <a:r>
              <a:rPr sz="2000" b="1" i="0">
                <a:solidFill>
                  <a:srgbClr val="F2F5FA"/>
                </a:solidFill>
                <a:latin typeface="Calibri"/>
              </a:rPr>
              <a:t>Limitations</a:t>
            </a:r>
          </a:p>
        </p:txBody>
      </p:sp>
      <p:sp>
        <p:nvSpPr>
          <p:cNvPr id="13" name="TextBox 12"/>
          <p:cNvSpPr txBox="1"/>
          <p:nvPr/>
        </p:nvSpPr>
        <p:spPr>
          <a:xfrm>
            <a:off x="6492240" y="2606040"/>
            <a:ext cx="4846320" cy="3383280"/>
          </a:xfrm>
          <a:prstGeom prst="rect">
            <a:avLst/>
          </a:prstGeom>
          <a:noFill/>
        </p:spPr>
        <p:txBody>
          <a:bodyPr wrap="square" anchor="t" lIns="0" rIns="0" tIns="0" bIns="0">
            <a:spAutoFit/>
          </a:bodyPr>
          <a:lstStyle/>
          <a:p>
            <a:pPr algn="l" marL="256032" indent="-256032">
              <a:spcAft>
                <a:spcPts val="1200"/>
              </a:spcAft>
              <a:buClr>
                <a:srgbClr val="F87171"/>
              </a:buClr>
              <a:buFont typeface="Arial"/>
              <a:buChar char="•"/>
            </a:pPr>
            <a:r>
              <a:rPr sz="1500" b="0" i="0">
                <a:solidFill>
                  <a:srgbClr val="F2F5FA"/>
                </a:solidFill>
                <a:latin typeface="Calibri"/>
              </a:rPr>
              <a:t>True 3-number state, not camera images (no representation learning)</a:t>
            </a:r>
          </a:p>
          <a:p>
            <a:pPr algn="l" marL="256032" indent="-256032">
              <a:spcAft>
                <a:spcPts val="1200"/>
              </a:spcAft>
              <a:buClr>
                <a:srgbClr val="F87171"/>
              </a:buClr>
              <a:buFont typeface="Arial"/>
              <a:buChar char="•"/>
            </a:pPr>
            <a:r>
              <a:rPr sz="1500" b="0" i="0">
                <a:solidFill>
                  <a:srgbClr val="F2F5FA"/>
                </a:solidFill>
                <a:latin typeface="Calibri"/>
              </a:rPr>
              <a:t>Deterministic MLP: no uncertainty, no RSSM or diffusion model</a:t>
            </a:r>
          </a:p>
          <a:p>
            <a:pPr algn="l" marL="256032" indent="-256032">
              <a:spcAft>
                <a:spcPts val="1200"/>
              </a:spcAft>
              <a:buClr>
                <a:srgbClr val="F87171"/>
              </a:buClr>
              <a:buFont typeface="Arial"/>
              <a:buChar char="•"/>
            </a:pPr>
            <a:r>
              <a:rPr sz="1500" b="0" i="0">
                <a:solidFill>
                  <a:srgbClr val="F2F5FA"/>
                </a:solidFill>
                <a:latin typeface="Calibri"/>
              </a:rPr>
              <a:t>Hand-written cost and no value function, so the planner sees only 0.75 s ahead</a:t>
            </a:r>
          </a:p>
          <a:p>
            <a:pPr algn="l" marL="256032" indent="-256032">
              <a:spcAft>
                <a:spcPts val="1200"/>
              </a:spcAft>
              <a:buClr>
                <a:srgbClr val="F87171"/>
              </a:buClr>
              <a:buFont typeface="Arial"/>
              <a:buChar char="•"/>
            </a:pPr>
            <a:r>
              <a:rPr sz="1500" b="0" i="0">
                <a:solidFill>
                  <a:srgbClr val="F2F5FA"/>
                </a:solidFill>
                <a:latin typeface="Calibri"/>
              </a:rPr>
              <a:t>Imitation cannot beat its teacher; only 15 test episodes, and the ± ranges overlap</a:t>
            </a:r>
          </a:p>
        </p:txBody>
      </p:sp>
      <p:sp>
        <p:nvSpPr>
          <p:cNvPr id="14" name="TextBox 13"/>
          <p:cNvSpPr txBox="1"/>
          <p:nvPr/>
        </p:nvSpPr>
        <p:spPr>
          <a:xfrm>
            <a:off x="548640" y="6400800"/>
            <a:ext cx="8229600" cy="228600"/>
          </a:xfrm>
          <a:prstGeom prst="rect">
            <a:avLst/>
          </a:prstGeom>
          <a:noFill/>
        </p:spPr>
        <p:txBody>
          <a:bodyPr wrap="square" anchor="t" lIns="0" rIns="0" tIns="0" bIns="0">
            <a:spAutoFit/>
          </a:bodyPr>
          <a:lstStyle/>
          <a:p>
            <a:pPr algn="l">
              <a:spcAft>
                <a:spcPts val="400"/>
              </a:spcAft>
            </a:pPr>
            <a:r>
              <a:rPr sz="1000" b="0" i="0">
                <a:solidFill>
                  <a:srgbClr val="56637D"/>
                </a:solidFill>
                <a:latin typeface="Calibri"/>
              </a:rPr>
              <a:t>ENG 6010 · Readings 6 · Mode-2 to Mode-1</a:t>
            </a:r>
          </a:p>
        </p:txBody>
      </p:sp>
      <p:sp>
        <p:nvSpPr>
          <p:cNvPr id="15" name="TextBox 14"/>
          <p:cNvSpPr txBox="1"/>
          <p:nvPr/>
        </p:nvSpPr>
        <p:spPr>
          <a:xfrm>
            <a:off x="10725912" y="6400800"/>
            <a:ext cx="914400" cy="228600"/>
          </a:xfrm>
          <a:prstGeom prst="rect">
            <a:avLst/>
          </a:prstGeom>
          <a:noFill/>
        </p:spPr>
        <p:txBody>
          <a:bodyPr wrap="square" anchor="t" lIns="0" rIns="0" tIns="0" bIns="0">
            <a:spAutoFit/>
          </a:bodyPr>
          <a:lstStyle/>
          <a:p>
            <a:pPr algn="r">
              <a:spcAft>
                <a:spcPts val="400"/>
              </a:spcAft>
            </a:pPr>
            <a:r>
              <a:rPr sz="1000" b="0" i="0">
                <a:solidFill>
                  <a:srgbClr val="56637D"/>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020"/>
        </a:solidFill>
        <a:effectLst/>
      </p:bgPr>
    </p:bg>
    <p:spTree>
      <p:nvGrpSpPr>
        <p:cNvPr id="1" name=""/>
        <p:cNvGrpSpPr/>
        <p:nvPr/>
      </p:nvGrpSpPr>
      <p:grpSpPr/>
      <p:sp>
        <p:nvSpPr>
          <p:cNvPr id="2" name="TextBox 1"/>
          <p:cNvSpPr txBox="1"/>
          <p:nvPr/>
        </p:nvSpPr>
        <p:spPr>
          <a:xfrm>
            <a:off x="731520" y="1188720"/>
            <a:ext cx="10698480" cy="320040"/>
          </a:xfrm>
          <a:prstGeom prst="rect">
            <a:avLst/>
          </a:prstGeom>
          <a:noFill/>
        </p:spPr>
        <p:txBody>
          <a:bodyPr wrap="square" anchor="t" lIns="0" rIns="0" tIns="0" bIns="0">
            <a:spAutoFit/>
          </a:bodyPr>
          <a:lstStyle/>
          <a:p>
            <a:pPr algn="l">
              <a:spcAft>
                <a:spcPts val="400"/>
              </a:spcAft>
            </a:pPr>
            <a:r>
              <a:rPr sz="1400" b="1" i="0">
                <a:solidFill>
                  <a:srgbClr val="F5A524"/>
                </a:solidFill>
                <a:latin typeface="Calibri"/>
              </a:rPr>
              <a:t>TAKEAWAY</a:t>
            </a:r>
          </a:p>
        </p:txBody>
      </p:sp>
      <p:sp>
        <p:nvSpPr>
          <p:cNvPr id="3" name="TextBox 2"/>
          <p:cNvSpPr txBox="1"/>
          <p:nvPr/>
        </p:nvSpPr>
        <p:spPr>
          <a:xfrm>
            <a:off x="731520" y="1645920"/>
            <a:ext cx="10698480" cy="1645920"/>
          </a:xfrm>
          <a:prstGeom prst="rect">
            <a:avLst/>
          </a:prstGeom>
          <a:noFill/>
        </p:spPr>
        <p:txBody>
          <a:bodyPr wrap="square" anchor="t" lIns="0" rIns="0" tIns="0" bIns="0">
            <a:spAutoFit/>
          </a:bodyPr>
          <a:lstStyle/>
          <a:p>
            <a:pPr algn="l">
              <a:spcAft>
                <a:spcPts val="400"/>
              </a:spcAft>
            </a:pPr>
            <a:r>
              <a:rPr sz="4400" b="1" i="0">
                <a:solidFill>
                  <a:srgbClr val="F5A524"/>
                </a:solidFill>
                <a:latin typeface="Calibri"/>
              </a:rPr>
              <a:t>Think slowly while training. </a:t>
            </a:r>
            <a:r>
              <a:rPr sz="4400" b="1" i="0">
                <a:solidFill>
                  <a:srgbClr val="2DD4BF"/>
                </a:solidFill>
                <a:latin typeface="Calibri"/>
              </a:rPr>
              <a:t>React quickly when deployed.</a:t>
            </a:r>
          </a:p>
        </p:txBody>
      </p:sp>
      <p:sp>
        <p:nvSpPr>
          <p:cNvPr id="4" name="TextBox 3"/>
          <p:cNvSpPr txBox="1"/>
          <p:nvPr/>
        </p:nvSpPr>
        <p:spPr>
          <a:xfrm>
            <a:off x="731520" y="3291840"/>
            <a:ext cx="9601200" cy="914400"/>
          </a:xfrm>
          <a:prstGeom prst="rect">
            <a:avLst/>
          </a:prstGeom>
          <a:noFill/>
        </p:spPr>
        <p:txBody>
          <a:bodyPr wrap="square" anchor="t" lIns="0" rIns="0" tIns="0" bIns="0">
            <a:spAutoFit/>
          </a:bodyPr>
          <a:lstStyle/>
          <a:p>
            <a:pPr algn="l">
              <a:spcAft>
                <a:spcPts val="400"/>
              </a:spcAft>
            </a:pPr>
            <a:r>
              <a:rPr sz="2000" b="0" i="0">
                <a:solidFill>
                  <a:srgbClr val="A7B3C9"/>
                </a:solidFill>
                <a:latin typeface="Calibri"/>
              </a:rPr>
              <a:t>A learned world model plus a planner gives good behaviour; distilling that planner gives the same behaviour cheaply enough for a real-time robot.</a:t>
            </a:r>
          </a:p>
        </p:txBody>
      </p:sp>
      <p:sp>
        <p:nvSpPr>
          <p:cNvPr id="5" name="Rounded Rectangle 4"/>
          <p:cNvSpPr/>
          <p:nvPr/>
        </p:nvSpPr>
        <p:spPr>
          <a:xfrm>
            <a:off x="731520" y="4434840"/>
            <a:ext cx="5760720" cy="1691640"/>
          </a:xfrm>
          <a:prstGeom prst="roundRect">
            <a:avLst>
              <a:gd name="adj" fmla="val 4000"/>
            </a:avLst>
          </a:prstGeom>
          <a:solidFill>
            <a:srgbClr val="0A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617720"/>
            <a:ext cx="5212080" cy="274320"/>
          </a:xfrm>
          <a:prstGeom prst="rect">
            <a:avLst/>
          </a:prstGeom>
          <a:noFill/>
        </p:spPr>
        <p:txBody>
          <a:bodyPr wrap="square" anchor="t" lIns="0" rIns="0" tIns="0" bIns="0">
            <a:spAutoFit/>
          </a:bodyPr>
          <a:lstStyle/>
          <a:p>
            <a:pPr algn="l">
              <a:spcAft>
                <a:spcPts val="400"/>
              </a:spcAft>
            </a:pPr>
            <a:r>
              <a:rPr sz="1100" b="0" i="0">
                <a:solidFill>
                  <a:srgbClr val="A7B3C9"/>
                </a:solidFill>
                <a:latin typeface="Courier New"/>
              </a:rPr>
              <a:t>reproduce</a:t>
            </a:r>
          </a:p>
        </p:txBody>
      </p:sp>
      <p:sp>
        <p:nvSpPr>
          <p:cNvPr id="7" name="TextBox 6"/>
          <p:cNvSpPr txBox="1"/>
          <p:nvPr/>
        </p:nvSpPr>
        <p:spPr>
          <a:xfrm>
            <a:off x="1005840" y="4983480"/>
            <a:ext cx="5212080" cy="1005839"/>
          </a:xfrm>
          <a:prstGeom prst="rect">
            <a:avLst/>
          </a:prstGeom>
          <a:noFill/>
        </p:spPr>
        <p:txBody>
          <a:bodyPr wrap="square" anchor="t" lIns="0" rIns="0" tIns="0" bIns="0">
            <a:spAutoFit/>
          </a:bodyPr>
          <a:lstStyle/>
          <a:p>
            <a:pPr algn="l">
              <a:spcAft>
                <a:spcPts val="100"/>
              </a:spcAft>
            </a:pPr>
            <a:r>
              <a:rPr sz="1400" b="0" i="0">
                <a:solidFill>
                  <a:srgbClr val="DCE3EF"/>
                </a:solidFill>
                <a:latin typeface="Courier New"/>
              </a:rPr>
              <a:t>cd readings/Readings_6</a:t>
            </a:r>
          </a:p>
          <a:p>
            <a:pPr algn="l">
              <a:spcAft>
                <a:spcPts val="100"/>
              </a:spcAft>
            </a:pPr>
            <a:r>
              <a:rPr sz="1400" b="0" i="0">
                <a:solidFill>
                  <a:srgbClr val="DCE3EF"/>
                </a:solidFill>
                <a:latin typeface="Courier New"/>
              </a:rPr>
              <a:t>pip install -r requirements.txt</a:t>
            </a:r>
          </a:p>
          <a:p>
            <a:pPr algn="l">
              <a:spcAft>
                <a:spcPts val="100"/>
              </a:spcAft>
            </a:pPr>
            <a:r>
              <a:rPr sz="1400" b="0" i="0">
                <a:solidFill>
                  <a:srgbClr val="DCE3EF"/>
                </a:solidFill>
                <a:latin typeface="Courier New"/>
              </a:rPr>
              <a:t>python main.py        </a:t>
            </a:r>
            <a:r>
              <a:rPr sz="1400" b="0" i="0">
                <a:solidFill>
                  <a:srgbClr val="7C8BA8"/>
                </a:solidFill>
                <a:latin typeface="Courier New"/>
              </a:rPr>
              <a:t># full run</a:t>
            </a:r>
          </a:p>
          <a:p>
            <a:pPr algn="l">
              <a:spcAft>
                <a:spcPts val="100"/>
              </a:spcAft>
            </a:pPr>
            <a:r>
              <a:rPr sz="1400" b="0" i="0">
                <a:solidFill>
                  <a:srgbClr val="DCE3EF"/>
                </a:solidFill>
                <a:latin typeface="Courier New"/>
              </a:rPr>
              <a:t>python main.py --quick</a:t>
            </a:r>
          </a:p>
        </p:txBody>
      </p:sp>
      <p:sp>
        <p:nvSpPr>
          <p:cNvPr id="8" name="Oval 7"/>
          <p:cNvSpPr/>
          <p:nvPr/>
        </p:nvSpPr>
        <p:spPr>
          <a:xfrm>
            <a:off x="6949440" y="4617720"/>
            <a:ext cx="640080" cy="640080"/>
          </a:xfrm>
          <a:prstGeom prst="ellipse">
            <a:avLst/>
          </a:prstGeom>
          <a:solidFill>
            <a:srgbClr val="1F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icon github" descr="github.png"/>
          <p:cNvPicPr>
            <a:picLocks noChangeAspect="1"/>
          </p:cNvPicPr>
          <p:nvPr/>
        </p:nvPicPr>
        <p:blipFill>
          <a:blip r:embed="rId2"/>
          <a:stretch>
            <a:fillRect/>
          </a:stretch>
        </p:blipFill>
        <p:spPr>
          <a:xfrm>
            <a:off x="7103059" y="4771339"/>
            <a:ext cx="332841" cy="332841"/>
          </a:xfrm>
          <a:prstGeom prst="rect">
            <a:avLst/>
          </a:prstGeom>
        </p:spPr>
      </p:pic>
      <p:sp>
        <p:nvSpPr>
          <p:cNvPr id="10" name="TextBox 9"/>
          <p:cNvSpPr txBox="1"/>
          <p:nvPr/>
        </p:nvSpPr>
        <p:spPr>
          <a:xfrm>
            <a:off x="7772400" y="4572000"/>
            <a:ext cx="3931920" cy="731520"/>
          </a:xfrm>
          <a:prstGeom prst="rect">
            <a:avLst/>
          </a:prstGeom>
          <a:noFill/>
        </p:spPr>
        <p:txBody>
          <a:bodyPr wrap="square" anchor="t" lIns="0" rIns="0" tIns="0" bIns="0">
            <a:spAutoFit/>
          </a:bodyPr>
          <a:lstStyle/>
          <a:p>
            <a:pPr algn="l">
              <a:spcAft>
                <a:spcPts val="200"/>
              </a:spcAft>
            </a:pPr>
            <a:r>
              <a:rPr sz="1600" b="1" i="0">
                <a:solidFill>
                  <a:srgbClr val="F2F5FA"/>
                </a:solidFill>
                <a:latin typeface="Calibri"/>
              </a:rPr>
              <a:t>github.com/CDJ7/ENG6010</a:t>
            </a:r>
          </a:p>
          <a:p>
            <a:pPr algn="l">
              <a:spcAft>
                <a:spcPts val="200"/>
              </a:spcAft>
            </a:pPr>
            <a:r>
              <a:rPr sz="1400" b="0" i="0">
                <a:solidFill>
                  <a:srgbClr val="A7B3C9"/>
                </a:solidFill>
                <a:latin typeface="Courier New"/>
              </a:rPr>
              <a:t>readings/Readings_6</a:t>
            </a:r>
          </a:p>
        </p:txBody>
      </p:sp>
      <p:sp>
        <p:nvSpPr>
          <p:cNvPr id="11" name="TextBox 10"/>
          <p:cNvSpPr txBox="1"/>
          <p:nvPr/>
        </p:nvSpPr>
        <p:spPr>
          <a:xfrm>
            <a:off x="7772400" y="5440680"/>
            <a:ext cx="3931920" cy="731520"/>
          </a:xfrm>
          <a:prstGeom prst="rect">
            <a:avLst/>
          </a:prstGeom>
          <a:noFill/>
        </p:spPr>
        <p:txBody>
          <a:bodyPr wrap="square" anchor="t" lIns="0" rIns="0" tIns="0" bIns="0">
            <a:spAutoFit/>
          </a:bodyPr>
          <a:lstStyle/>
          <a:p>
            <a:pPr algn="l">
              <a:spcAft>
                <a:spcPts val="400"/>
              </a:spcAft>
            </a:pPr>
            <a:r>
              <a:rPr sz="1400" b="0" i="0">
                <a:solidFill>
                  <a:srgbClr val="A7B3C9"/>
                </a:solidFill>
                <a:latin typeface="Calibri"/>
              </a:rPr>
              <a:t>README · Program_Explanation ·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Mode-2 to Mode-1</dc:title>
  <dc:subject>ENG 6010 Readings 6</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